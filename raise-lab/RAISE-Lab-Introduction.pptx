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Thanks for having me. I'm Xuan-Bach Le. I teach at Ho Chi Minh City University of Technology, and I run a small research lab there called RAISE, which stands for Reasoning in Artificial Intelligence and Software Engineering.</a:t>
            </a:r>
          </a:p>
          <a:p/>
          <a:p>
            <a:r>
              <a:t>That is a long name for a simple idea. AI systems now produce a great deal of software. They write patches, they rank security alerts, they draft answers that people act on. Almost none of that output arrives with any evidence that it is correct. We build the layer that checks it.</a:t>
            </a:r>
          </a:p>
          <a:p/>
          <a:p>
            <a:r>
              <a:t>I will keep this to about fifteen minutes. I want to tell you why the problem matters, walk you through the three pillars we work across, show you four projects we published this year, and then spend a little time on what we are doing right now, because that is usually where a collaboration starts.</a:t>
            </a:r>
          </a:p>
          <a:p/>
          <a:p>
            <a:r>
              <a:t>[Delivery: warm and unhurried. Do not rush the opening; this is the only moment people decide whether to listen.]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start with the problem, because everything else follows from it.</a:t>
            </a:r>
          </a:p>
          <a:p/>
          <a:p>
            <a:r>
              <a:t>Two years ago AI suggested things to us. Now it ships them. It writes the patch that goes into your repository. It ranks the security alerts your team works through on Monday morning. It drafts the answer somebody acts on without ever opening the source.</a:t>
            </a:r>
          </a:p>
          <a:p/>
          <a:p>
            <a:r>
              <a:t>So ask the obvious question. How do you know it was right?</a:t>
            </a:r>
          </a:p>
          <a:p/>
          <a:p>
            <a:r>
              <a:t>Most of the time the honest answer is a benchmark score. Something like: this model scores seventy-two percent on a public test set. That is a genuinely useful thing to know. But look at what it actually tells you. It summarises what happened, on somebody else's data, at some point in the past. It is not a reason to trust the next answer, and the next answer is the only one you actually care about.</a:t>
            </a:r>
          </a:p>
          <a:p/>
          <a:p>
            <a:r>
              <a:t>That gap is the entire research programme. We build the things missing from that picture. Tests written specifically to break a candidate patch. Models that report their own error bars instead of a single number. Audits that say plainly where the evidence stops and the guessing begins.</a:t>
            </a:r>
          </a:p>
          <a:p/>
          <a:p>
            <a:r>
              <a:t>[Delivery: slow down on "how do you know it was right?" and let it sit for a beat before answering.]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research itself, three commitments. These shape how we work, and honestly they are what students actually learn in the lab.</a:t>
            </a:r>
          </a:p>
          <a:p/>
          <a:p>
            <a:r>
              <a:t>The first is evidence over confidence. A model sounding certain proves nothing at all. Language models are fluent by construction, and fluency reads to us as confidence. So we make every claim answer to something outside the model. A test that tries to break it. A solver. A statistical check. Something with the power to say no.</a:t>
            </a:r>
          </a:p>
          <a:p/>
          <a:p>
            <a:r>
              <a:t>The second is measurement that means something. Before we report a number we ask what it measures and whether the data supports it. An evaluation is a measuring instrument, and instruments get calibrated. A surprising amount of our work is just taking that seriously.</a:t>
            </a:r>
          </a:p>
          <a:p/>
          <a:p>
            <a:r>
              <a:t>The third is being honest about limits. We build systems that can answer "inconclusive". That sounds like a weakness and it is the opposite. Knowing where your evidence runs out is far more useful to whoever depends on you than a confident guess. Reviewers respect it. Users can act on it.</a:t>
            </a:r>
          </a:p>
          <a:p/>
          <a:p>
            <a:r>
              <a:t>If you take one thing from this talk, take the third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shape of the lab before I go into any detail.</a:t>
            </a:r>
          </a:p>
          <a:p/>
          <a:p>
            <a:r>
              <a:t>Three pillars. Software engineering is the largest, covering agents across the development lifecycle, static analysis, and reliability. Artificial intelligence and machine learning is the methods layer underneath it, where the evaluation, uncertainty and vision work lives. Security is where both of those meet somebody who is actively trying to break them.</a:t>
            </a:r>
          </a:p>
          <a:p/>
          <a:p>
            <a:r>
              <a:t>Fourteen active directions across the three. I will not walk through all fourteen. What I would rather you take away is that these are not three separate labs sharing a corridor. The same question runs through all of them, which is how do you know this thing is right, and the pillars are simply three places where that question gets asked.</a:t>
            </a:r>
          </a:p>
          <a:p/>
          <a:p>
            <a:r>
              <a:t>There is a fourth strand at the bottom that does not fit the pattern as neatly. That is decision-making under uncertainty, where a forecast feeds a real optimisation step. Two examples published this year: cash management for ATM networks, and examination room allocation at our own university. It is our most applied work, and it is often the fastest way into a conversation with industry.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Pillar one, and our largest. I will not read all five, so let me take two.</a:t>
            </a:r>
          </a:p>
          <a:p/>
          <a:p>
            <a:r>
              <a:t>AI governance is the easiest to grasp without a software background. When a system accepts AI-written code, someone should be able to ask why. Not "the model was confident", but an actual record of what justified the decision. And here is the part people find surprising: a patch that passes the tests you already had has proved almost nothing, because those tests were written before the patch existed. So we generate new ones whose entire job is to break the candidate, and we let the result decide instead of the model.</a:t>
            </a:r>
          </a:p>
          <a:p/>
          <a:p>
            <a:r>
              <a:t>Agent reliability is the second. An agent is a stochastic system. It retries, it wanders, sometimes it succeeds on the fourth attempt. So we model it as one. Fitting execution traces to a Markov chain gives you error bars and a goodness-of-fit test. A single benchmark score gives you neither.</a:t>
            </a:r>
          </a:p>
          <a:p/>
          <a:p>
            <a:r>
              <a:t>The quantum line at the bottom usually surprises people. It is the oldest thread here, going back to POPL and ICALP. You cannot debug a quantum program by running it and printing values, so correctness has to come from the type system and the logic. That is the tradition this lab reasons from.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Pillar two is the methods layer. These are the techniques that make the software engineering work possible.</a:t>
            </a:r>
          </a:p>
          <a:p/>
          <a:p>
            <a:r>
              <a:t>The one I would point a general audience to is uncertainty and selective prediction. The idea is simple: some questions a system should decline to answer. Building that well is harder than it sounds. You want the refusal to rest on a guarantee that holds on a finite sample, not on a threshold somebody tuned by hand until the demo looked good. We also set those thresholds per group, because a system that becomes more cautious for only some populations has quietly traded away fairness.</a:t>
            </a:r>
          </a:p>
          <a:p/>
          <a:p>
            <a:r>
              <a:t>The efficiency line is a good question to put to anyone running AI in production. Five small models or one large one? People argue about this constantly and almost nobody fixes the budget first. Once you compare at equal cost the answer changes, and it changes by task.</a:t>
            </a:r>
          </a:p>
          <a:p/>
          <a:p>
            <a:r>
              <a:t>The evaluation work at the top is the one I would flag for researchers. The moment you use a model as a judge, you have turned it into a measuring instrument, and instruments need calibrating against something you can verify.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Pillar three is where our work meets an actual adversary. This is the pillar that lands hardest with industry.</a:t>
            </a:r>
          </a:p>
          <a:p/>
          <a:p>
            <a:r>
              <a:t>Start with privacy in AI agents, because it is concrete and slightly alarming. Persistent memory is the least audited part of any agent deployment. Everyone scrutinises the model and the prompt. Almost nobody audits the memory. And what one user's session writes into a shared memory, another user's session can read back. We built a benchmark and an audit suite so that this gets measured instead of argued about in a meeting.</a:t>
            </a:r>
          </a:p>
          <a:p/>
          <a:p>
            <a:r>
              <a:t>Vulnerability detection is where I would point your security team. Every hypothesis is checked against what the repository actually shows, and then marked Verified, Rejected, or Inconclusive. Notice the philosophy. We would rather report ten real bugs than a hundred maybes. We tune for a low false-discovery rate, not maximal recall, because a ranked queue should mean what it says. Once your engineers stop trusting the queue, the tool is worthless no matter how good its recall number looks.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projects from this year, to make all of that concrete.</a:t>
            </a:r>
          </a:p>
          <a:p/>
          <a:p>
            <a:r>
              <a:t>TraceToChain takes agent execution traces and turns them into an absorbing Markov chain. The interesting part is not the model, it is that the system refuses to report any number the statistics do not support. We tested it on 2,459 real agent episodes drawn from SWE-bench and tau-bench.</a:t>
            </a:r>
          </a:p>
          <a:p/>
          <a:p>
            <a:r>
              <a:t>GraphLedger finds vulnerabilities across a whole repository and makes every finding show its work against real dependency and taint structure.</a:t>
            </a:r>
          </a:p>
          <a:p/>
          <a:p>
            <a:r>
              <a:t>GraphMemShield is the memory leakage work I just mentioned. It measures what leaks between users in an agent's shared memory, so privacy stops being an argument and becomes a number.</a:t>
            </a:r>
          </a:p>
          <a:p/>
          <a:p>
            <a:r>
              <a:t>LTM-RAG treats poisoning of retrieval systems as something that happens over time rather than one query at a time, which is how these attacks actually work. That reframing is worth a number: answer-level attack success falls from ninety-five percent to fourteen.</a:t>
            </a:r>
          </a:p>
          <a:p/>
          <a:p>
            <a:r>
              <a:t>Pick whichever of these is closest to what you do and I am happy to go deeper afterwards.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part I am most interested in talking about. There are no project names on this slide on purpose, because most of it is under review.</a:t>
            </a:r>
          </a:p>
          <a:p/>
          <a:p>
            <a:r>
              <a:t>Here is the framing. The first wave of agent research asked what these systems can do. That question is largely settled; they can do a great deal. What interests us now is second-order. Not whether an agent can act, but when it should, and on whose evidence.</a:t>
            </a:r>
          </a:p>
          <a:p/>
          <a:p>
            <a:r>
              <a:t>Five questions. When should it search? Treat retrieval as a decision with a cost, and look something up only while the next lookup is worth more than it costs. Sometimes the right move is to ask the user instead of guessing.</a:t>
            </a:r>
          </a:p>
          <a:p/>
          <a:p>
            <a:r>
              <a:t>Whom should it trust? This is my favourite. Ten sources that copied one another are not ten pieces of evidence. So we weigh evidence by independence, and we stop untrusted content from ever carrying authority.</a:t>
            </a:r>
          </a:p>
          <a:p/>
          <a:p>
            <a:r>
              <a:t>What should it remember? Facts expire, and memory ought to know that.</a:t>
            </a:r>
          </a:p>
          <a:p/>
          <a:p>
            <a:r>
              <a:t>How does it survive change? Interfaces move, distributions shift, benchmarks go stale. A system should notice when it is running outside the conditions it was validated on.</a:t>
            </a:r>
          </a:p>
          <a:p/>
          <a:p>
            <a:r>
              <a:t>And can it show its work? Provenance you could hand to an auditor.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Briefly, so you know the lab delivers.</a:t>
            </a:r>
          </a:p>
          <a:p/>
          <a:p>
            <a:r>
              <a:t>Twenty-eight publications, nineteen of them this year. The recent work sits at A and A-star venues in software engineering and data mining: ICDM, CIKM, ASE, ISSRE.</a:t>
            </a:r>
          </a:p>
          <a:p/>
          <a:p>
            <a:r>
              <a:t>The bottom row is the part I would draw your attention to. POPL, ICALP, ESOP, FSTTCS, NeurIPS. That is program verification, logic and complexity, and it is older work.</a:t>
            </a:r>
          </a:p>
          <a:p/>
          <a:p>
            <a:r>
              <a:t>The point is this. The lab is new. The methods are not. Everything I have shown you today rests on roughly a decade of program verification, and that is why we reach for a proof or a statistical certificate before we reach for a leaderboard. It is an unusual foundation for a group working on LLM agents, and I think it is our main advantage.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word about who actually does this work.</a:t>
            </a:r>
          </a:p>
          <a:p/>
          <a:p>
            <a:r>
              <a:t>My own background is program verification. PhD at the National University of Singapore under Aquinas Hobor, with mentorship from Anthony Lin, then a postdoc at NTU Singapore with Luke Ong. That is where the instinct for proof and measurement comes from.</a:t>
            </a:r>
          </a:p>
          <a:p/>
          <a:p>
            <a:r>
              <a:t>The names on the right are a selection of students with published work, and I want to be clear that it is a selection. The lab supervises others who are not on this slide.</a:t>
            </a:r>
          </a:p>
          <a:p/>
          <a:p>
            <a:r>
              <a:t>What I would rather you notice is the range. Vulnerability detection, agent reliability, retrieval security, computer vision, optimisation. These are master's and undergraduate students, and they are first authors.</a:t>
            </a:r>
          </a:p>
          <a:p/>
          <a:p>
            <a:r>
              <a:t>That is deliberate, and it is the promise I make when somebody joins. You get a problem of your own, you run it, and you publish it. I do not hand out subtasks. It is a slower way to run a lab and I believe it produces better researchers.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ways to work with us, and then I will take questions.</a:t>
            </a:r>
          </a:p>
          <a:p/>
          <a:p>
            <a:r>
              <a:t>If you are a student, or you teach students who might fit: I am looking for people who want to do careful work. The line at the top of this slide is the actual standard. Careful, honest about its limits, and worth publishing. Projects are open across all three pillars. Email me and tell me what you find interesting.</a:t>
            </a:r>
          </a:p>
          <a:p/>
          <a:p>
            <a:r>
              <a:t>If you are an academic collaborator, here is my concrete ask. We need real agent traces and real static-analysis alert queues. Our methods are only worth as much as the data they meet, and that data mostly sits inside companies rather than universities. If you have it, or you know who does, that is the most useful thing you could offer us.</a:t>
            </a:r>
          </a:p>
          <a:p/>
          <a:p>
            <a:r>
              <a:t>And for industry: reliability audits, leakage assessments, evaluation design. Measurement you could put in front of a regulator.</a:t>
            </a:r>
          </a:p>
          <a:p/>
          <a:p>
            <a:r>
              <a:t>My email is on the slide. Thank you, and I am happy to take questions.</a:t>
            </a:r>
          </a:p>
          <a:p/>
          <a:p>
            <a:r>
              <a:t>[Delivery: leave this slide up for the whole Q&amp;A.]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985455" y="0"/>
            <a:ext cx="4206240" cy="6858000"/>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985455" y="0"/>
            <a:ext cx="38100" cy="6858000"/>
          </a:xfrm>
          <a:prstGeom prst="rect">
            <a:avLst/>
          </a:prstGeom>
          <a:solidFill>
            <a:srgbClr val="E945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777240" y="1572768"/>
            <a:ext cx="960120" cy="50800"/>
          </a:xfrm>
          <a:prstGeom prst="rect">
            <a:avLst/>
          </a:prstGeom>
          <a:solidFill>
            <a:srgbClr val="E945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77240" y="1874519"/>
            <a:ext cx="6949440" cy="1371600"/>
          </a:xfrm>
          <a:prstGeom prst="rect">
            <a:avLst/>
          </a:prstGeom>
          <a:noFill/>
        </p:spPr>
        <p:txBody>
          <a:bodyPr wrap="square" anchor="t" lIns="0" rIns="0" tIns="0" bIns="0">
            <a:spAutoFit/>
          </a:bodyPr>
          <a:lstStyle/>
          <a:p>
            <a:pPr algn="l">
              <a:lnSpc>
                <a:spcPct val="100000"/>
              </a:lnSpc>
              <a:spcAft>
                <a:spcPts val="0"/>
              </a:spcAft>
            </a:pPr>
            <a:r>
              <a:rPr sz="8800" b="0" i="0">
                <a:solidFill>
                  <a:srgbClr val="FFFFFF"/>
                </a:solidFill>
                <a:latin typeface="Georgia"/>
              </a:rPr>
              <a:t>RAISE</a:t>
            </a:r>
          </a:p>
        </p:txBody>
      </p:sp>
      <p:sp>
        <p:nvSpPr>
          <p:cNvPr id="7" name="TextBox 6"/>
          <p:cNvSpPr txBox="1"/>
          <p:nvPr/>
        </p:nvSpPr>
        <p:spPr>
          <a:xfrm>
            <a:off x="777240" y="3163824"/>
            <a:ext cx="6766560" cy="822960"/>
          </a:xfrm>
          <a:prstGeom prst="rect">
            <a:avLst/>
          </a:prstGeom>
          <a:noFill/>
        </p:spPr>
        <p:txBody>
          <a:bodyPr wrap="square" anchor="t" lIns="0" rIns="0" tIns="0" bIns="0">
            <a:spAutoFit/>
          </a:bodyPr>
          <a:lstStyle/>
          <a:p>
            <a:pPr algn="l">
              <a:lnSpc>
                <a:spcPct val="125000"/>
              </a:lnSpc>
              <a:spcAft>
                <a:spcPts val="0"/>
              </a:spcAft>
            </a:pPr>
            <a:r>
              <a:rPr sz="2000" b="0" i="0">
                <a:solidFill>
                  <a:srgbClr val="B8BECC"/>
                </a:solidFill>
                <a:latin typeface="Calibri"/>
              </a:rPr>
              <a:t>Reasoning in Artificial Intelligence
and Software Engineering</a:t>
            </a:r>
          </a:p>
        </p:txBody>
      </p:sp>
      <p:sp>
        <p:nvSpPr>
          <p:cNvPr id="8" name="Rectangle 7"/>
          <p:cNvSpPr/>
          <p:nvPr/>
        </p:nvSpPr>
        <p:spPr>
          <a:xfrm>
            <a:off x="777240" y="4224528"/>
            <a:ext cx="6766560" cy="12700"/>
          </a:xfrm>
          <a:prstGeom prst="rect">
            <a:avLst/>
          </a:prstGeom>
          <a:solidFill>
            <a:srgbClr val="3A3F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4498848"/>
            <a:ext cx="6766560" cy="822960"/>
          </a:xfrm>
          <a:prstGeom prst="rect">
            <a:avLst/>
          </a:prstGeom>
          <a:noFill/>
        </p:spPr>
        <p:txBody>
          <a:bodyPr wrap="square" anchor="t" lIns="0" rIns="0" tIns="0" bIns="0">
            <a:spAutoFit/>
          </a:bodyPr>
          <a:lstStyle/>
          <a:p>
            <a:pPr algn="l">
              <a:lnSpc>
                <a:spcPct val="100000"/>
              </a:lnSpc>
              <a:spcAft>
                <a:spcPts val="0"/>
              </a:spcAft>
            </a:pPr>
            <a:r>
              <a:rPr sz="1400" b="0" i="0">
                <a:solidFill>
                  <a:srgbClr val="FFFFFF"/>
                </a:solidFill>
                <a:latin typeface="Calibri"/>
              </a:rPr>
              <a:t>Ho Chi Minh City University of Technology (HCMUT), VNU-HCM</a:t>
            </a:r>
          </a:p>
        </p:txBody>
      </p:sp>
      <p:sp>
        <p:nvSpPr>
          <p:cNvPr id="10" name="TextBox 9"/>
          <p:cNvSpPr txBox="1"/>
          <p:nvPr/>
        </p:nvSpPr>
        <p:spPr>
          <a:xfrm>
            <a:off x="777240" y="4846320"/>
            <a:ext cx="6766560" cy="822960"/>
          </a:xfrm>
          <a:prstGeom prst="rect">
            <a:avLst/>
          </a:prstGeom>
          <a:noFill/>
        </p:spPr>
        <p:txBody>
          <a:bodyPr wrap="square" anchor="t" lIns="0" rIns="0" tIns="0" bIns="0">
            <a:spAutoFit/>
          </a:bodyPr>
          <a:lstStyle/>
          <a:p>
            <a:pPr algn="l">
              <a:lnSpc>
                <a:spcPct val="100000"/>
              </a:lnSpc>
              <a:spcAft>
                <a:spcPts val="0"/>
              </a:spcAft>
            </a:pPr>
            <a:r>
              <a:rPr sz="1300" b="1" i="0">
                <a:solidFill>
                  <a:srgbClr val="FFFFFF"/>
                </a:solidFill>
                <a:latin typeface="Calibri"/>
              </a:rPr>
              <a:t>Dr. Xuan-Bach Le</a:t>
            </a:r>
            <a:r>
              <a:rPr sz="1300" b="0" i="0">
                <a:solidFill>
                  <a:srgbClr val="B8BECC"/>
                </a:solidFill>
                <a:latin typeface="Calibri"/>
              </a:rPr>
              <a:t>   ·   Head of Laboratory</a:t>
            </a:r>
          </a:p>
        </p:txBody>
      </p:sp>
      <p:sp>
        <p:nvSpPr>
          <p:cNvPr id="11" name="TextBox 10"/>
          <p:cNvSpPr txBox="1"/>
          <p:nvPr/>
        </p:nvSpPr>
        <p:spPr>
          <a:xfrm>
            <a:off x="777240" y="5870448"/>
            <a:ext cx="6766560" cy="274320"/>
          </a:xfrm>
          <a:prstGeom prst="rect">
            <a:avLst/>
          </a:prstGeom>
          <a:noFill/>
        </p:spPr>
        <p:txBody>
          <a:bodyPr wrap="square" anchor="t" lIns="0" rIns="0" tIns="0" bIns="0">
            <a:spAutoFit/>
          </a:bodyPr>
          <a:lstStyle/>
          <a:p>
            <a:pPr algn="l">
              <a:lnSpc>
                <a:spcPct val="100000"/>
              </a:lnSpc>
              <a:spcAft>
                <a:spcPts val="0"/>
              </a:spcAft>
            </a:pPr>
            <a:r>
              <a:rPr sz="1100" b="0" i="0">
                <a:solidFill>
                  <a:srgbClr val="B8BECC"/>
                </a:solidFill>
                <a:latin typeface="Calibri"/>
              </a:rPr>
              <a:t>lexuanbach@hcmut.edu.vn   ·   lexuanbach.github.io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8900" cy="6858000"/>
          </a:xfrm>
          <a:prstGeom prst="rect">
            <a:avLst/>
          </a:prstGeom>
          <a:solidFill>
            <a:srgbClr val="E945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1234440"/>
            <a:ext cx="9692640" cy="365760"/>
          </a:xfrm>
          <a:prstGeom prst="rect">
            <a:avLst/>
          </a:prstGeom>
          <a:noFill/>
        </p:spPr>
        <p:txBody>
          <a:bodyPr wrap="square" anchor="t" lIns="0" rIns="0" tIns="0" bIns="0">
            <a:spAutoFit/>
          </a:bodyPr>
          <a:lstStyle/>
          <a:p>
            <a:pPr algn="l">
              <a:lnSpc>
                <a:spcPct val="100000"/>
              </a:lnSpc>
              <a:spcAft>
                <a:spcPts val="0"/>
              </a:spcAft>
            </a:pPr>
            <a:r>
              <a:rPr sz="1200" b="1" i="0">
                <a:solidFill>
                  <a:srgbClr val="E94560"/>
                </a:solidFill>
                <a:latin typeface="Calibri"/>
              </a:rPr>
              <a:t>RESEARCH MOTIVATION</a:t>
            </a:r>
          </a:p>
        </p:txBody>
      </p:sp>
      <p:sp>
        <p:nvSpPr>
          <p:cNvPr id="5" name="TextBox 4"/>
          <p:cNvSpPr txBox="1"/>
          <p:nvPr/>
        </p:nvSpPr>
        <p:spPr>
          <a:xfrm>
            <a:off x="777240" y="1783080"/>
            <a:ext cx="10058400" cy="2377440"/>
          </a:xfrm>
          <a:prstGeom prst="rect">
            <a:avLst/>
          </a:prstGeom>
          <a:noFill/>
        </p:spPr>
        <p:txBody>
          <a:bodyPr wrap="square" anchor="t" lIns="0" rIns="0" tIns="0" bIns="0">
            <a:spAutoFit/>
          </a:bodyPr>
          <a:lstStyle/>
          <a:p>
            <a:pPr algn="l">
              <a:lnSpc>
                <a:spcPct val="122000"/>
              </a:lnSpc>
              <a:spcAft>
                <a:spcPts val="0"/>
              </a:spcAft>
            </a:pPr>
            <a:r>
              <a:rPr sz="3200" b="0" i="0">
                <a:solidFill>
                  <a:srgbClr val="1A1A2E"/>
                </a:solidFill>
                <a:latin typeface="Georgia"/>
              </a:rPr>
              <a:t>AI systems now write code, rank alerts
and draft answers.</a:t>
            </a:r>
            <a:r>
              <a:rPr sz="3200" b="0" i="0">
                <a:solidFill>
                  <a:srgbClr val="E94560"/>
                </a:solidFill>
                <a:latin typeface="Georgia"/>
              </a:rPr>
              <a:t>  Very little of that output
carries evidence that it is correct.</a:t>
            </a:r>
          </a:p>
        </p:txBody>
      </p:sp>
      <p:sp>
        <p:nvSpPr>
          <p:cNvPr id="6" name="Rectangle 5"/>
          <p:cNvSpPr/>
          <p:nvPr/>
        </p:nvSpPr>
        <p:spPr>
          <a:xfrm>
            <a:off x="777240" y="4315968"/>
            <a:ext cx="10058400" cy="12700"/>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4617720"/>
            <a:ext cx="4709160" cy="1280160"/>
          </a:xfrm>
          <a:prstGeom prst="rect">
            <a:avLst/>
          </a:prstGeom>
          <a:noFill/>
        </p:spPr>
        <p:txBody>
          <a:bodyPr wrap="square" anchor="t" lIns="0" rIns="0" tIns="0" bIns="0">
            <a:spAutoFit/>
          </a:bodyPr>
          <a:lstStyle/>
          <a:p>
            <a:pPr algn="l">
              <a:lnSpc>
                <a:spcPct val="130000"/>
              </a:lnSpc>
              <a:spcAft>
                <a:spcPts val="0"/>
              </a:spcAft>
            </a:pPr>
            <a:r>
              <a:rPr sz="1450" b="0" i="0">
                <a:solidFill>
                  <a:srgbClr val="666666"/>
                </a:solidFill>
                <a:latin typeface="Calibri"/>
              </a:rPr>
              <a:t>A benchmark score summarises what happened last time. That is a useful thing to know. It is not a reason to trust the next answer.</a:t>
            </a:r>
          </a:p>
        </p:txBody>
      </p:sp>
      <p:sp>
        <p:nvSpPr>
          <p:cNvPr id="8" name="TextBox 7"/>
          <p:cNvSpPr txBox="1"/>
          <p:nvPr/>
        </p:nvSpPr>
        <p:spPr>
          <a:xfrm>
            <a:off x="6126480" y="4617720"/>
            <a:ext cx="4709160" cy="1280160"/>
          </a:xfrm>
          <a:prstGeom prst="rect">
            <a:avLst/>
          </a:prstGeom>
          <a:noFill/>
        </p:spPr>
        <p:txBody>
          <a:bodyPr wrap="square" anchor="t" lIns="0" rIns="0" tIns="0" bIns="0">
            <a:spAutoFit/>
          </a:bodyPr>
          <a:lstStyle/>
          <a:p>
            <a:pPr algn="l">
              <a:lnSpc>
                <a:spcPct val="130000"/>
              </a:lnSpc>
              <a:spcAft>
                <a:spcPts val="0"/>
              </a:spcAft>
            </a:pPr>
            <a:r>
              <a:rPr sz="1450" b="1" i="0">
                <a:solidFill>
                  <a:srgbClr val="1A1A2E"/>
                </a:solidFill>
                <a:latin typeface="Calibri"/>
              </a:rPr>
              <a:t>RAISE builds what is missing:</a:t>
            </a:r>
            <a:r>
              <a:rPr sz="1450" b="0" i="0">
                <a:solidFill>
                  <a:srgbClr val="666666"/>
                </a:solidFill>
                <a:latin typeface="Calibri"/>
              </a:rPr>
              <a:t> tests written to break a candidate patch, models that report their own error bars, and audits that say plainly where the evidence stops.</a:t>
            </a:r>
          </a:p>
        </p:txBody>
      </p:sp>
      <p:sp>
        <p:nvSpPr>
          <p:cNvPr id="9" name="TextBox 8"/>
          <p:cNvSpPr txBox="1"/>
          <p:nvPr/>
        </p:nvSpPr>
        <p:spPr>
          <a:xfrm>
            <a:off x="777240" y="6291072"/>
            <a:ext cx="10271455" cy="219456"/>
          </a:xfrm>
          <a:prstGeom prst="rect">
            <a:avLst/>
          </a:prstGeom>
          <a:noFill/>
        </p:spPr>
        <p:txBody>
          <a:bodyPr wrap="square" anchor="t" lIns="0" rIns="0" tIns="0" bIns="0">
            <a:spAutoFit/>
          </a:bodyPr>
          <a:lstStyle/>
          <a:p>
            <a:pPr algn="l">
              <a:lnSpc>
                <a:spcPct val="100000"/>
              </a:lnSpc>
              <a:spcAft>
                <a:spcPts val="0"/>
              </a:spcAft>
            </a:pPr>
            <a:r>
              <a:rPr sz="950" b="0" i="0">
                <a:solidFill>
                  <a:srgbClr val="666666"/>
                </a:solidFill>
                <a:latin typeface="Calibri"/>
              </a:rPr>
              <a:t>RAISE Lab  ·  HCMUT, VNU-HCM</a:t>
            </a:r>
          </a:p>
        </p:txBody>
      </p:sp>
      <p:sp>
        <p:nvSpPr>
          <p:cNvPr id="10" name="TextBox 9"/>
          <p:cNvSpPr txBox="1"/>
          <p:nvPr/>
        </p:nvSpPr>
        <p:spPr>
          <a:xfrm>
            <a:off x="10865815" y="6291072"/>
            <a:ext cx="548640" cy="219456"/>
          </a:xfrm>
          <a:prstGeom prst="rect">
            <a:avLst/>
          </a:prstGeom>
          <a:noFill/>
        </p:spPr>
        <p:txBody>
          <a:bodyPr wrap="square" anchor="t" lIns="0" rIns="0" tIns="0" bIns="0">
            <a:spAutoFit/>
          </a:bodyPr>
          <a:lstStyle/>
          <a:p>
            <a:pPr algn="r">
              <a:lnSpc>
                <a:spcPct val="100000"/>
              </a:lnSpc>
              <a:spcAft>
                <a:spcPts val="0"/>
              </a:spcAft>
            </a:pPr>
            <a:r>
              <a:rPr sz="950" b="0" i="0">
                <a:solidFill>
                  <a:srgbClr val="666666"/>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74320"/>
          </a:xfrm>
          <a:prstGeom prst="rect">
            <a:avLst/>
          </a:prstGeom>
          <a:noFill/>
        </p:spPr>
        <p:txBody>
          <a:bodyPr wrap="square" anchor="t" lIns="0" rIns="0" tIns="0" bIns="0">
            <a:spAutoFit/>
          </a:bodyPr>
          <a:lstStyle/>
          <a:p>
            <a:pPr algn="l">
              <a:lnSpc>
                <a:spcPct val="100000"/>
              </a:lnSpc>
              <a:spcAft>
                <a:spcPts val="0"/>
              </a:spcAft>
            </a:pPr>
            <a:r>
              <a:rPr sz="1150" b="1" i="0">
                <a:solidFill>
                  <a:srgbClr val="E94560"/>
                </a:solidFill>
                <a:latin typeface="Calibri"/>
              </a:rPr>
              <a:t>GUIDING PRINCIPLES</a:t>
            </a:r>
          </a:p>
        </p:txBody>
      </p:sp>
      <p:sp>
        <p:nvSpPr>
          <p:cNvPr id="4" name="TextBox 3"/>
          <p:cNvSpPr txBox="1"/>
          <p:nvPr/>
        </p:nvSpPr>
        <p:spPr>
          <a:xfrm>
            <a:off x="777240" y="786384"/>
            <a:ext cx="10637215" cy="566928"/>
          </a:xfrm>
          <a:prstGeom prst="rect">
            <a:avLst/>
          </a:prstGeom>
          <a:noFill/>
        </p:spPr>
        <p:txBody>
          <a:bodyPr wrap="square" anchor="t" lIns="0" rIns="0" tIns="0" bIns="0">
            <a:spAutoFit/>
          </a:bodyPr>
          <a:lstStyle/>
          <a:p>
            <a:pPr algn="l">
              <a:lnSpc>
                <a:spcPct val="100000"/>
              </a:lnSpc>
              <a:spcAft>
                <a:spcPts val="0"/>
              </a:spcAft>
            </a:pPr>
            <a:r>
              <a:rPr sz="3000" b="0" i="0">
                <a:solidFill>
                  <a:srgbClr val="1A1A2E"/>
                </a:solidFill>
                <a:latin typeface="Georgia"/>
              </a:rPr>
              <a:t>Three commitments behind every project</a:t>
            </a:r>
          </a:p>
        </p:txBody>
      </p:sp>
      <p:sp>
        <p:nvSpPr>
          <p:cNvPr id="5" name="Rectangle 4"/>
          <p:cNvSpPr/>
          <p:nvPr/>
        </p:nvSpPr>
        <p:spPr>
          <a:xfrm>
            <a:off x="777240" y="1426464"/>
            <a:ext cx="566928" cy="38100"/>
          </a:xfrm>
          <a:prstGeom prst="rect">
            <a:avLst/>
          </a:prstGeom>
          <a:solidFill>
            <a:srgbClr val="E945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777240" y="1965960"/>
            <a:ext cx="3393338" cy="3200400"/>
          </a:xfrm>
          <a:prstGeom prst="rect">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965960"/>
            <a:ext cx="3393338" cy="44450"/>
          </a:xfrm>
          <a:prstGeom prst="rect">
            <a:avLst/>
          </a:prstGeom>
          <a:solidFill>
            <a:srgbClr val="E945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143000" y="2331720"/>
            <a:ext cx="731520" cy="457200"/>
          </a:xfrm>
          <a:prstGeom prst="rect">
            <a:avLst/>
          </a:prstGeom>
          <a:noFill/>
        </p:spPr>
        <p:txBody>
          <a:bodyPr wrap="square" anchor="t" lIns="0" rIns="0" tIns="0" bIns="0">
            <a:spAutoFit/>
          </a:bodyPr>
          <a:lstStyle/>
          <a:p>
            <a:pPr algn="l">
              <a:lnSpc>
                <a:spcPct val="100000"/>
              </a:lnSpc>
              <a:spcAft>
                <a:spcPts val="0"/>
              </a:spcAft>
            </a:pPr>
            <a:r>
              <a:rPr sz="2600" b="1" i="0">
                <a:solidFill>
                  <a:srgbClr val="E94560"/>
                </a:solidFill>
                <a:latin typeface="Georgia"/>
              </a:rPr>
              <a:t>01</a:t>
            </a:r>
          </a:p>
        </p:txBody>
      </p:sp>
      <p:sp>
        <p:nvSpPr>
          <p:cNvPr id="9" name="TextBox 8"/>
          <p:cNvSpPr txBox="1"/>
          <p:nvPr/>
        </p:nvSpPr>
        <p:spPr>
          <a:xfrm>
            <a:off x="1143000" y="2926080"/>
            <a:ext cx="2661818" cy="640080"/>
          </a:xfrm>
          <a:prstGeom prst="rect">
            <a:avLst/>
          </a:prstGeom>
          <a:noFill/>
        </p:spPr>
        <p:txBody>
          <a:bodyPr wrap="square" anchor="t" lIns="0" rIns="0" tIns="0" bIns="0">
            <a:spAutoFit/>
          </a:bodyPr>
          <a:lstStyle/>
          <a:p>
            <a:pPr algn="l">
              <a:lnSpc>
                <a:spcPct val="110000"/>
              </a:lnSpc>
              <a:spcAft>
                <a:spcPts val="0"/>
              </a:spcAft>
            </a:pPr>
            <a:r>
              <a:rPr sz="1650" b="1" i="0">
                <a:solidFill>
                  <a:srgbClr val="1A1A2E"/>
                </a:solidFill>
                <a:latin typeface="Calibri"/>
              </a:rPr>
              <a:t>Evidence over confidence</a:t>
            </a:r>
          </a:p>
        </p:txBody>
      </p:sp>
      <p:sp>
        <p:nvSpPr>
          <p:cNvPr id="10" name="TextBox 9"/>
          <p:cNvSpPr txBox="1"/>
          <p:nvPr/>
        </p:nvSpPr>
        <p:spPr>
          <a:xfrm>
            <a:off x="1143000" y="3749039"/>
            <a:ext cx="2661818" cy="1280160"/>
          </a:xfrm>
          <a:prstGeom prst="rect">
            <a:avLst/>
          </a:prstGeom>
          <a:noFill/>
        </p:spPr>
        <p:txBody>
          <a:bodyPr wrap="square" anchor="t" lIns="0" rIns="0" tIns="0" bIns="0">
            <a:spAutoFit/>
          </a:bodyPr>
          <a:lstStyle/>
          <a:p>
            <a:pPr algn="l">
              <a:lnSpc>
                <a:spcPct val="122000"/>
              </a:lnSpc>
              <a:spcAft>
                <a:spcPts val="0"/>
              </a:spcAft>
            </a:pPr>
            <a:r>
              <a:rPr sz="1250" b="0" i="0">
                <a:solidFill>
                  <a:srgbClr val="666666"/>
                </a:solidFill>
                <a:latin typeface="Calibri"/>
              </a:rPr>
              <a:t>A model sounding certain proves nothing. We make every claim answer to something outside the model: a test that tries to break it, a solver, a statistical check.</a:t>
            </a:r>
          </a:p>
        </p:txBody>
      </p:sp>
      <p:sp>
        <p:nvSpPr>
          <p:cNvPr id="11" name="Rectangle 10"/>
          <p:cNvSpPr/>
          <p:nvPr/>
        </p:nvSpPr>
        <p:spPr>
          <a:xfrm>
            <a:off x="4399178" y="1965960"/>
            <a:ext cx="3393338" cy="3200400"/>
          </a:xfrm>
          <a:prstGeom prst="rect">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399178" y="1965960"/>
            <a:ext cx="3393338" cy="44450"/>
          </a:xfrm>
          <a:prstGeom prst="rect">
            <a:avLst/>
          </a:prstGeom>
          <a:solidFill>
            <a:srgbClr val="F39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764938" y="2331720"/>
            <a:ext cx="731520" cy="457200"/>
          </a:xfrm>
          <a:prstGeom prst="rect">
            <a:avLst/>
          </a:prstGeom>
          <a:noFill/>
        </p:spPr>
        <p:txBody>
          <a:bodyPr wrap="square" anchor="t" lIns="0" rIns="0" tIns="0" bIns="0">
            <a:spAutoFit/>
          </a:bodyPr>
          <a:lstStyle/>
          <a:p>
            <a:pPr algn="l">
              <a:lnSpc>
                <a:spcPct val="100000"/>
              </a:lnSpc>
              <a:spcAft>
                <a:spcPts val="0"/>
              </a:spcAft>
            </a:pPr>
            <a:r>
              <a:rPr sz="2600" b="1" i="0">
                <a:solidFill>
                  <a:srgbClr val="F39C6B"/>
                </a:solidFill>
                <a:latin typeface="Georgia"/>
              </a:rPr>
              <a:t>02</a:t>
            </a:r>
          </a:p>
        </p:txBody>
      </p:sp>
      <p:sp>
        <p:nvSpPr>
          <p:cNvPr id="14" name="TextBox 13"/>
          <p:cNvSpPr txBox="1"/>
          <p:nvPr/>
        </p:nvSpPr>
        <p:spPr>
          <a:xfrm>
            <a:off x="4764938" y="2926080"/>
            <a:ext cx="2661818" cy="640080"/>
          </a:xfrm>
          <a:prstGeom prst="rect">
            <a:avLst/>
          </a:prstGeom>
          <a:noFill/>
        </p:spPr>
        <p:txBody>
          <a:bodyPr wrap="square" anchor="t" lIns="0" rIns="0" tIns="0" bIns="0">
            <a:spAutoFit/>
          </a:bodyPr>
          <a:lstStyle/>
          <a:p>
            <a:pPr algn="l">
              <a:lnSpc>
                <a:spcPct val="110000"/>
              </a:lnSpc>
              <a:spcAft>
                <a:spcPts val="0"/>
              </a:spcAft>
            </a:pPr>
            <a:r>
              <a:rPr sz="1650" b="1" i="0">
                <a:solidFill>
                  <a:srgbClr val="1A1A2E"/>
                </a:solidFill>
                <a:latin typeface="Calibri"/>
              </a:rPr>
              <a:t>Measurement that means something</a:t>
            </a:r>
          </a:p>
        </p:txBody>
      </p:sp>
      <p:sp>
        <p:nvSpPr>
          <p:cNvPr id="15" name="TextBox 14"/>
          <p:cNvSpPr txBox="1"/>
          <p:nvPr/>
        </p:nvSpPr>
        <p:spPr>
          <a:xfrm>
            <a:off x="4764938" y="3749039"/>
            <a:ext cx="2661818" cy="1280160"/>
          </a:xfrm>
          <a:prstGeom prst="rect">
            <a:avLst/>
          </a:prstGeom>
          <a:noFill/>
        </p:spPr>
        <p:txBody>
          <a:bodyPr wrap="square" anchor="t" lIns="0" rIns="0" tIns="0" bIns="0">
            <a:spAutoFit/>
          </a:bodyPr>
          <a:lstStyle/>
          <a:p>
            <a:pPr algn="l">
              <a:lnSpc>
                <a:spcPct val="122000"/>
              </a:lnSpc>
              <a:spcAft>
                <a:spcPts val="0"/>
              </a:spcAft>
            </a:pPr>
            <a:r>
              <a:rPr sz="1250" b="0" i="0">
                <a:solidFill>
                  <a:srgbClr val="666666"/>
                </a:solidFill>
                <a:latin typeface="Calibri"/>
              </a:rPr>
              <a:t>Before we report a number we ask what it measures and whether the data supports it. An evaluation is a measuring instrument. Instruments get calibrated.</a:t>
            </a:r>
          </a:p>
        </p:txBody>
      </p:sp>
      <p:sp>
        <p:nvSpPr>
          <p:cNvPr id="16" name="Rectangle 15"/>
          <p:cNvSpPr/>
          <p:nvPr/>
        </p:nvSpPr>
        <p:spPr>
          <a:xfrm>
            <a:off x="8021116" y="1965960"/>
            <a:ext cx="3393338" cy="3200400"/>
          </a:xfrm>
          <a:prstGeom prst="rect">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21116" y="1965960"/>
            <a:ext cx="3393338" cy="44450"/>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386876" y="2331720"/>
            <a:ext cx="731520" cy="457200"/>
          </a:xfrm>
          <a:prstGeom prst="rect">
            <a:avLst/>
          </a:prstGeom>
          <a:noFill/>
        </p:spPr>
        <p:txBody>
          <a:bodyPr wrap="square" anchor="t" lIns="0" rIns="0" tIns="0" bIns="0">
            <a:spAutoFit/>
          </a:bodyPr>
          <a:lstStyle/>
          <a:p>
            <a:pPr algn="l">
              <a:lnSpc>
                <a:spcPct val="100000"/>
              </a:lnSpc>
              <a:spcAft>
                <a:spcPts val="0"/>
              </a:spcAft>
            </a:pPr>
            <a:r>
              <a:rPr sz="2600" b="1" i="0">
                <a:solidFill>
                  <a:srgbClr val="16213E"/>
                </a:solidFill>
                <a:latin typeface="Georgia"/>
              </a:rPr>
              <a:t>03</a:t>
            </a:r>
          </a:p>
        </p:txBody>
      </p:sp>
      <p:sp>
        <p:nvSpPr>
          <p:cNvPr id="19" name="TextBox 18"/>
          <p:cNvSpPr txBox="1"/>
          <p:nvPr/>
        </p:nvSpPr>
        <p:spPr>
          <a:xfrm>
            <a:off x="8386876" y="2926080"/>
            <a:ext cx="2661818" cy="640080"/>
          </a:xfrm>
          <a:prstGeom prst="rect">
            <a:avLst/>
          </a:prstGeom>
          <a:noFill/>
        </p:spPr>
        <p:txBody>
          <a:bodyPr wrap="square" anchor="t" lIns="0" rIns="0" tIns="0" bIns="0">
            <a:spAutoFit/>
          </a:bodyPr>
          <a:lstStyle/>
          <a:p>
            <a:pPr algn="l">
              <a:lnSpc>
                <a:spcPct val="110000"/>
              </a:lnSpc>
              <a:spcAft>
                <a:spcPts val="0"/>
              </a:spcAft>
            </a:pPr>
            <a:r>
              <a:rPr sz="1650" b="1" i="0">
                <a:solidFill>
                  <a:srgbClr val="1A1A2E"/>
                </a:solidFill>
                <a:latin typeface="Calibri"/>
              </a:rPr>
              <a:t>Honest about limits</a:t>
            </a:r>
          </a:p>
        </p:txBody>
      </p:sp>
      <p:sp>
        <p:nvSpPr>
          <p:cNvPr id="20" name="TextBox 19"/>
          <p:cNvSpPr txBox="1"/>
          <p:nvPr/>
        </p:nvSpPr>
        <p:spPr>
          <a:xfrm>
            <a:off x="8386876" y="3749039"/>
            <a:ext cx="2661818" cy="1280160"/>
          </a:xfrm>
          <a:prstGeom prst="rect">
            <a:avLst/>
          </a:prstGeom>
          <a:noFill/>
        </p:spPr>
        <p:txBody>
          <a:bodyPr wrap="square" anchor="t" lIns="0" rIns="0" tIns="0" bIns="0">
            <a:spAutoFit/>
          </a:bodyPr>
          <a:lstStyle/>
          <a:p>
            <a:pPr algn="l">
              <a:lnSpc>
                <a:spcPct val="122000"/>
              </a:lnSpc>
              <a:spcAft>
                <a:spcPts val="0"/>
              </a:spcAft>
            </a:pPr>
            <a:r>
              <a:rPr sz="1250" b="0" i="0">
                <a:solidFill>
                  <a:srgbClr val="666666"/>
                </a:solidFill>
                <a:latin typeface="Calibri"/>
              </a:rPr>
              <a:t>We build systems that can answer “inconclusive”. Knowing where the evidence runs out is more useful, and more honest, than a confident guess.</a:t>
            </a:r>
          </a:p>
        </p:txBody>
      </p:sp>
      <p:sp>
        <p:nvSpPr>
          <p:cNvPr id="21" name="TextBox 20"/>
          <p:cNvSpPr txBox="1"/>
          <p:nvPr/>
        </p:nvSpPr>
        <p:spPr>
          <a:xfrm>
            <a:off x="777240" y="6291072"/>
            <a:ext cx="10271455" cy="219456"/>
          </a:xfrm>
          <a:prstGeom prst="rect">
            <a:avLst/>
          </a:prstGeom>
          <a:noFill/>
        </p:spPr>
        <p:txBody>
          <a:bodyPr wrap="square" anchor="t" lIns="0" rIns="0" tIns="0" bIns="0">
            <a:spAutoFit/>
          </a:bodyPr>
          <a:lstStyle/>
          <a:p>
            <a:pPr algn="l">
              <a:lnSpc>
                <a:spcPct val="100000"/>
              </a:lnSpc>
              <a:spcAft>
                <a:spcPts val="0"/>
              </a:spcAft>
            </a:pPr>
            <a:r>
              <a:rPr sz="950" b="0" i="0">
                <a:solidFill>
                  <a:srgbClr val="666666"/>
                </a:solidFill>
                <a:latin typeface="Calibri"/>
              </a:rPr>
              <a:t>RAISE Lab  ·  HCMUT, VNU-HCM</a:t>
            </a:r>
          </a:p>
        </p:txBody>
      </p:sp>
      <p:sp>
        <p:nvSpPr>
          <p:cNvPr id="22" name="TextBox 21"/>
          <p:cNvSpPr txBox="1"/>
          <p:nvPr/>
        </p:nvSpPr>
        <p:spPr>
          <a:xfrm>
            <a:off x="10865815" y="6291072"/>
            <a:ext cx="548640" cy="219456"/>
          </a:xfrm>
          <a:prstGeom prst="rect">
            <a:avLst/>
          </a:prstGeom>
          <a:noFill/>
        </p:spPr>
        <p:txBody>
          <a:bodyPr wrap="square" anchor="t" lIns="0" rIns="0" tIns="0" bIns="0">
            <a:spAutoFit/>
          </a:bodyPr>
          <a:lstStyle/>
          <a:p>
            <a:pPr algn="r">
              <a:lnSpc>
                <a:spcPct val="100000"/>
              </a:lnSpc>
              <a:spcAft>
                <a:spcPts val="0"/>
              </a:spcAft>
            </a:pPr>
            <a:r>
              <a:rPr sz="950" b="0" i="0">
                <a:solidFill>
                  <a:srgbClr val="666666"/>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74320"/>
          </a:xfrm>
          <a:prstGeom prst="rect">
            <a:avLst/>
          </a:prstGeom>
          <a:noFill/>
        </p:spPr>
        <p:txBody>
          <a:bodyPr wrap="square" anchor="t" lIns="0" rIns="0" tIns="0" bIns="0">
            <a:spAutoFit/>
          </a:bodyPr>
          <a:lstStyle/>
          <a:p>
            <a:pPr algn="l">
              <a:lnSpc>
                <a:spcPct val="100000"/>
              </a:lnSpc>
              <a:spcAft>
                <a:spcPts val="0"/>
              </a:spcAft>
            </a:pPr>
            <a:r>
              <a:rPr sz="1150" b="1" i="0">
                <a:solidFill>
                  <a:srgbClr val="E94560"/>
                </a:solidFill>
                <a:latin typeface="Calibri"/>
              </a:rPr>
              <a:t>RESEARCH PROGRAMME</a:t>
            </a:r>
          </a:p>
        </p:txBody>
      </p:sp>
      <p:sp>
        <p:nvSpPr>
          <p:cNvPr id="4" name="TextBox 3"/>
          <p:cNvSpPr txBox="1"/>
          <p:nvPr/>
        </p:nvSpPr>
        <p:spPr>
          <a:xfrm>
            <a:off x="777240" y="786384"/>
            <a:ext cx="10637215" cy="566928"/>
          </a:xfrm>
          <a:prstGeom prst="rect">
            <a:avLst/>
          </a:prstGeom>
          <a:noFill/>
        </p:spPr>
        <p:txBody>
          <a:bodyPr wrap="square" anchor="t" lIns="0" rIns="0" tIns="0" bIns="0">
            <a:spAutoFit/>
          </a:bodyPr>
          <a:lstStyle/>
          <a:p>
            <a:pPr algn="l">
              <a:lnSpc>
                <a:spcPct val="100000"/>
              </a:lnSpc>
              <a:spcAft>
                <a:spcPts val="0"/>
              </a:spcAft>
            </a:pPr>
            <a:r>
              <a:rPr sz="3000" b="0" i="0">
                <a:solidFill>
                  <a:srgbClr val="FFFFFF"/>
                </a:solidFill>
                <a:latin typeface="Georgia"/>
              </a:rPr>
              <a:t>Three pillars, fourteen active directions</a:t>
            </a:r>
          </a:p>
        </p:txBody>
      </p:sp>
      <p:sp>
        <p:nvSpPr>
          <p:cNvPr id="5" name="Rectangle 4"/>
          <p:cNvSpPr/>
          <p:nvPr/>
        </p:nvSpPr>
        <p:spPr>
          <a:xfrm>
            <a:off x="777240" y="1426464"/>
            <a:ext cx="566928" cy="38100"/>
          </a:xfrm>
          <a:prstGeom prst="rect">
            <a:avLst/>
          </a:prstGeom>
          <a:solidFill>
            <a:srgbClr val="E945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777240" y="1874519"/>
            <a:ext cx="3393338" cy="3429000"/>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874519"/>
            <a:ext cx="3393338" cy="50800"/>
          </a:xfrm>
          <a:prstGeom prst="rect">
            <a:avLst/>
          </a:prstGeom>
          <a:solidFill>
            <a:srgbClr val="E945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124712" y="2240280"/>
            <a:ext cx="2753258" cy="960120"/>
          </a:xfrm>
          <a:prstGeom prst="rect">
            <a:avLst/>
          </a:prstGeom>
          <a:noFill/>
        </p:spPr>
        <p:txBody>
          <a:bodyPr wrap="square" anchor="t" lIns="0" rIns="0" tIns="0" bIns="0">
            <a:spAutoFit/>
          </a:bodyPr>
          <a:lstStyle/>
          <a:p>
            <a:pPr algn="l">
              <a:lnSpc>
                <a:spcPct val="114000"/>
              </a:lnSpc>
              <a:spcAft>
                <a:spcPts val="0"/>
              </a:spcAft>
            </a:pPr>
            <a:r>
              <a:rPr sz="1900" b="0" i="0">
                <a:solidFill>
                  <a:srgbClr val="FFFFFF"/>
                </a:solidFill>
                <a:latin typeface="Georgia"/>
              </a:rPr>
              <a:t>Software
Engineering</a:t>
            </a:r>
          </a:p>
        </p:txBody>
      </p:sp>
      <p:sp>
        <p:nvSpPr>
          <p:cNvPr id="9" name="TextBox 8"/>
          <p:cNvSpPr txBox="1"/>
          <p:nvPr/>
        </p:nvSpPr>
        <p:spPr>
          <a:xfrm>
            <a:off x="1124712" y="3310128"/>
            <a:ext cx="2753258" cy="256032"/>
          </a:xfrm>
          <a:prstGeom prst="rect">
            <a:avLst/>
          </a:prstGeom>
          <a:noFill/>
        </p:spPr>
        <p:txBody>
          <a:bodyPr wrap="square" anchor="t" lIns="0" rIns="0" tIns="0" bIns="0">
            <a:spAutoFit/>
          </a:bodyPr>
          <a:lstStyle/>
          <a:p>
            <a:pPr algn="l">
              <a:lnSpc>
                <a:spcPct val="100000"/>
              </a:lnSpc>
              <a:spcAft>
                <a:spcPts val="0"/>
              </a:spcAft>
            </a:pPr>
            <a:r>
              <a:rPr sz="1050" b="1" i="0">
                <a:solidFill>
                  <a:srgbClr val="E94560"/>
                </a:solidFill>
                <a:latin typeface="Calibri"/>
              </a:rPr>
              <a:t>5 DIRECTIONS</a:t>
            </a:r>
          </a:p>
        </p:txBody>
      </p:sp>
      <p:sp>
        <p:nvSpPr>
          <p:cNvPr id="10" name="TextBox 9"/>
          <p:cNvSpPr txBox="1"/>
          <p:nvPr/>
        </p:nvSpPr>
        <p:spPr>
          <a:xfrm>
            <a:off x="1124712" y="3703320"/>
            <a:ext cx="2753258" cy="1463040"/>
          </a:xfrm>
          <a:prstGeom prst="rect">
            <a:avLst/>
          </a:prstGeom>
          <a:noFill/>
        </p:spPr>
        <p:txBody>
          <a:bodyPr wrap="square" anchor="t" lIns="0" rIns="0" tIns="0" bIns="0">
            <a:spAutoFit/>
          </a:bodyPr>
          <a:lstStyle/>
          <a:p>
            <a:pPr algn="l">
              <a:lnSpc>
                <a:spcPct val="130000"/>
              </a:lnSpc>
              <a:spcAft>
                <a:spcPts val="0"/>
              </a:spcAft>
            </a:pPr>
            <a:r>
              <a:rPr sz="1200" b="0" i="0">
                <a:solidFill>
                  <a:srgbClr val="B8BECC"/>
                </a:solidFill>
                <a:latin typeface="Calibri"/>
              </a:rPr>
              <a:t>Agents across the lifecycle · AI governance · Static analysis and testing · Agent reliability · Quantum program testing</a:t>
            </a:r>
          </a:p>
        </p:txBody>
      </p:sp>
      <p:sp>
        <p:nvSpPr>
          <p:cNvPr id="11" name="Rectangle 10"/>
          <p:cNvSpPr/>
          <p:nvPr/>
        </p:nvSpPr>
        <p:spPr>
          <a:xfrm>
            <a:off x="4399178" y="1874519"/>
            <a:ext cx="3393338" cy="3429000"/>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399178" y="1874519"/>
            <a:ext cx="3393338" cy="50800"/>
          </a:xfrm>
          <a:prstGeom prst="rect">
            <a:avLst/>
          </a:prstGeom>
          <a:solidFill>
            <a:srgbClr val="F39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746650" y="2240280"/>
            <a:ext cx="2753258" cy="960120"/>
          </a:xfrm>
          <a:prstGeom prst="rect">
            <a:avLst/>
          </a:prstGeom>
          <a:noFill/>
        </p:spPr>
        <p:txBody>
          <a:bodyPr wrap="square" anchor="t" lIns="0" rIns="0" tIns="0" bIns="0">
            <a:spAutoFit/>
          </a:bodyPr>
          <a:lstStyle/>
          <a:p>
            <a:pPr algn="l">
              <a:lnSpc>
                <a:spcPct val="114000"/>
              </a:lnSpc>
              <a:spcAft>
                <a:spcPts val="0"/>
              </a:spcAft>
            </a:pPr>
            <a:r>
              <a:rPr sz="1900" b="0" i="0">
                <a:solidFill>
                  <a:srgbClr val="FFFFFF"/>
                </a:solidFill>
                <a:latin typeface="Georgia"/>
              </a:rPr>
              <a:t>Artificial Intelligence
and Machine Learning</a:t>
            </a:r>
          </a:p>
        </p:txBody>
      </p:sp>
      <p:sp>
        <p:nvSpPr>
          <p:cNvPr id="14" name="TextBox 13"/>
          <p:cNvSpPr txBox="1"/>
          <p:nvPr/>
        </p:nvSpPr>
        <p:spPr>
          <a:xfrm>
            <a:off x="4746650" y="3310128"/>
            <a:ext cx="2753258" cy="256032"/>
          </a:xfrm>
          <a:prstGeom prst="rect">
            <a:avLst/>
          </a:prstGeom>
          <a:noFill/>
        </p:spPr>
        <p:txBody>
          <a:bodyPr wrap="square" anchor="t" lIns="0" rIns="0" tIns="0" bIns="0">
            <a:spAutoFit/>
          </a:bodyPr>
          <a:lstStyle/>
          <a:p>
            <a:pPr algn="l">
              <a:lnSpc>
                <a:spcPct val="100000"/>
              </a:lnSpc>
              <a:spcAft>
                <a:spcPts val="0"/>
              </a:spcAft>
            </a:pPr>
            <a:r>
              <a:rPr sz="1050" b="1" i="0">
                <a:solidFill>
                  <a:srgbClr val="F39C6B"/>
                </a:solidFill>
                <a:latin typeface="Calibri"/>
              </a:rPr>
              <a:t>5 DIRECTIONS</a:t>
            </a:r>
          </a:p>
        </p:txBody>
      </p:sp>
      <p:sp>
        <p:nvSpPr>
          <p:cNvPr id="15" name="TextBox 14"/>
          <p:cNvSpPr txBox="1"/>
          <p:nvPr/>
        </p:nvSpPr>
        <p:spPr>
          <a:xfrm>
            <a:off x="4746650" y="3703320"/>
            <a:ext cx="2753258" cy="1463040"/>
          </a:xfrm>
          <a:prstGeom prst="rect">
            <a:avLst/>
          </a:prstGeom>
          <a:noFill/>
        </p:spPr>
        <p:txBody>
          <a:bodyPr wrap="square" anchor="t" lIns="0" rIns="0" tIns="0" bIns="0">
            <a:spAutoFit/>
          </a:bodyPr>
          <a:lstStyle/>
          <a:p>
            <a:pPr algn="l">
              <a:lnSpc>
                <a:spcPct val="130000"/>
              </a:lnSpc>
              <a:spcAft>
                <a:spcPts val="0"/>
              </a:spcAft>
            </a:pPr>
            <a:r>
              <a:rPr sz="1200" b="0" i="0">
                <a:solidFill>
                  <a:srgbClr val="B8BECC"/>
                </a:solidFill>
                <a:latin typeface="Calibri"/>
              </a:rPr>
              <a:t>Evaluation and benchmarks · Uncertainty and selective prediction · Efficient AI systems · Adaptive vision · Retrieval and multilingual NLP</a:t>
            </a:r>
          </a:p>
        </p:txBody>
      </p:sp>
      <p:sp>
        <p:nvSpPr>
          <p:cNvPr id="16" name="Rectangle 15"/>
          <p:cNvSpPr/>
          <p:nvPr/>
        </p:nvSpPr>
        <p:spPr>
          <a:xfrm>
            <a:off x="8021116" y="1874519"/>
            <a:ext cx="3393338" cy="3429000"/>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21116" y="1874519"/>
            <a:ext cx="3393338" cy="50800"/>
          </a:xfrm>
          <a:prstGeom prst="rect">
            <a:avLst/>
          </a:prstGeom>
          <a:solidFill>
            <a:srgbClr val="6C9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368588" y="2240280"/>
            <a:ext cx="2753258" cy="960120"/>
          </a:xfrm>
          <a:prstGeom prst="rect">
            <a:avLst/>
          </a:prstGeom>
          <a:noFill/>
        </p:spPr>
        <p:txBody>
          <a:bodyPr wrap="square" anchor="t" lIns="0" rIns="0" tIns="0" bIns="0">
            <a:spAutoFit/>
          </a:bodyPr>
          <a:lstStyle/>
          <a:p>
            <a:pPr algn="l">
              <a:lnSpc>
                <a:spcPct val="114000"/>
              </a:lnSpc>
              <a:spcAft>
                <a:spcPts val="0"/>
              </a:spcAft>
            </a:pPr>
            <a:r>
              <a:rPr sz="1900" b="0" i="0">
                <a:solidFill>
                  <a:srgbClr val="FFFFFF"/>
                </a:solidFill>
                <a:latin typeface="Georgia"/>
              </a:rPr>
              <a:t>Security</a:t>
            </a:r>
          </a:p>
        </p:txBody>
      </p:sp>
      <p:sp>
        <p:nvSpPr>
          <p:cNvPr id="19" name="TextBox 18"/>
          <p:cNvSpPr txBox="1"/>
          <p:nvPr/>
        </p:nvSpPr>
        <p:spPr>
          <a:xfrm>
            <a:off x="8368588" y="3310128"/>
            <a:ext cx="2753258" cy="256032"/>
          </a:xfrm>
          <a:prstGeom prst="rect">
            <a:avLst/>
          </a:prstGeom>
          <a:noFill/>
        </p:spPr>
        <p:txBody>
          <a:bodyPr wrap="square" anchor="t" lIns="0" rIns="0" tIns="0" bIns="0">
            <a:spAutoFit/>
          </a:bodyPr>
          <a:lstStyle/>
          <a:p>
            <a:pPr algn="l">
              <a:lnSpc>
                <a:spcPct val="100000"/>
              </a:lnSpc>
              <a:spcAft>
                <a:spcPts val="0"/>
              </a:spcAft>
            </a:pPr>
            <a:r>
              <a:rPr sz="1050" b="1" i="0">
                <a:solidFill>
                  <a:srgbClr val="6C9BD1"/>
                </a:solidFill>
                <a:latin typeface="Calibri"/>
              </a:rPr>
              <a:t>4 DIRECTIONS</a:t>
            </a:r>
          </a:p>
        </p:txBody>
      </p:sp>
      <p:sp>
        <p:nvSpPr>
          <p:cNvPr id="20" name="TextBox 19"/>
          <p:cNvSpPr txBox="1"/>
          <p:nvPr/>
        </p:nvSpPr>
        <p:spPr>
          <a:xfrm>
            <a:off x="8368588" y="3703320"/>
            <a:ext cx="2753258" cy="1463040"/>
          </a:xfrm>
          <a:prstGeom prst="rect">
            <a:avLst/>
          </a:prstGeom>
          <a:noFill/>
        </p:spPr>
        <p:txBody>
          <a:bodyPr wrap="square" anchor="t" lIns="0" rIns="0" tIns="0" bIns="0">
            <a:spAutoFit/>
          </a:bodyPr>
          <a:lstStyle/>
          <a:p>
            <a:pPr algn="l">
              <a:lnSpc>
                <a:spcPct val="130000"/>
              </a:lnSpc>
              <a:spcAft>
                <a:spcPts val="0"/>
              </a:spcAft>
            </a:pPr>
            <a:r>
              <a:rPr sz="1200" b="0" i="0">
                <a:solidFill>
                  <a:srgbClr val="B8BECC"/>
                </a:solidFill>
                <a:latin typeface="Calibri"/>
              </a:rPr>
              <a:t>Privacy in AI agents · Privacy-preserving recommendation · Vulnerability detection · Trustworthy AI-generated code</a:t>
            </a:r>
          </a:p>
        </p:txBody>
      </p:sp>
      <p:sp>
        <p:nvSpPr>
          <p:cNvPr id="21" name="TextBox 20"/>
          <p:cNvSpPr txBox="1"/>
          <p:nvPr/>
        </p:nvSpPr>
        <p:spPr>
          <a:xfrm>
            <a:off x="777240" y="5623560"/>
            <a:ext cx="10637215" cy="457200"/>
          </a:xfrm>
          <a:prstGeom prst="rect">
            <a:avLst/>
          </a:prstGeom>
          <a:noFill/>
        </p:spPr>
        <p:txBody>
          <a:bodyPr wrap="square" anchor="t" lIns="0" rIns="0" tIns="0" bIns="0">
            <a:spAutoFit/>
          </a:bodyPr>
          <a:lstStyle/>
          <a:p>
            <a:pPr algn="l">
              <a:lnSpc>
                <a:spcPct val="125000"/>
              </a:lnSpc>
              <a:spcAft>
                <a:spcPts val="0"/>
              </a:spcAft>
            </a:pPr>
            <a:r>
              <a:rPr sz="1250" b="1" i="0">
                <a:solidFill>
                  <a:srgbClr val="FFFFFF"/>
                </a:solidFill>
                <a:latin typeface="Calibri"/>
              </a:rPr>
              <a:t>A fourth strand runs alongside these:  </a:t>
            </a:r>
            <a:r>
              <a:rPr sz="1250" b="0" i="0">
                <a:solidFill>
                  <a:srgbClr val="B8BECC"/>
                </a:solidFill>
                <a:latin typeface="Calibri"/>
              </a:rPr>
              <a:t>decision-making under uncertainty, where a forecast feeds a real optimisation step. ATM cash management and examination room allocation, both published this year.</a:t>
            </a:r>
          </a:p>
        </p:txBody>
      </p:sp>
      <p:sp>
        <p:nvSpPr>
          <p:cNvPr id="22" name="TextBox 21"/>
          <p:cNvSpPr txBox="1"/>
          <p:nvPr/>
        </p:nvSpPr>
        <p:spPr>
          <a:xfrm>
            <a:off x="777240" y="6291072"/>
            <a:ext cx="10271455" cy="219456"/>
          </a:xfrm>
          <a:prstGeom prst="rect">
            <a:avLst/>
          </a:prstGeom>
          <a:noFill/>
        </p:spPr>
        <p:txBody>
          <a:bodyPr wrap="square" anchor="t" lIns="0" rIns="0" tIns="0" bIns="0">
            <a:spAutoFit/>
          </a:bodyPr>
          <a:lstStyle/>
          <a:p>
            <a:pPr algn="l">
              <a:lnSpc>
                <a:spcPct val="100000"/>
              </a:lnSpc>
              <a:spcAft>
                <a:spcPts val="0"/>
              </a:spcAft>
            </a:pPr>
            <a:r>
              <a:rPr sz="950" b="0" i="0">
                <a:solidFill>
                  <a:srgbClr val="B8BECC"/>
                </a:solidFill>
                <a:latin typeface="Calibri"/>
              </a:rPr>
              <a:t>RAISE Lab  ·  HCMUT, VNU-HCM</a:t>
            </a:r>
          </a:p>
        </p:txBody>
      </p:sp>
      <p:sp>
        <p:nvSpPr>
          <p:cNvPr id="23" name="TextBox 22"/>
          <p:cNvSpPr txBox="1"/>
          <p:nvPr/>
        </p:nvSpPr>
        <p:spPr>
          <a:xfrm>
            <a:off x="10865815" y="6291072"/>
            <a:ext cx="548640" cy="219456"/>
          </a:xfrm>
          <a:prstGeom prst="rect">
            <a:avLst/>
          </a:prstGeom>
          <a:noFill/>
        </p:spPr>
        <p:txBody>
          <a:bodyPr wrap="square" anchor="t" lIns="0" rIns="0" tIns="0" bIns="0">
            <a:spAutoFit/>
          </a:bodyPr>
          <a:lstStyle/>
          <a:p>
            <a:pPr algn="r">
              <a:lnSpc>
                <a:spcPct val="100000"/>
              </a:lnSpc>
              <a:spcAft>
                <a:spcPts val="0"/>
              </a:spcAft>
            </a:pPr>
            <a:r>
              <a:rPr sz="950" b="0" i="0">
                <a:solidFill>
                  <a:srgbClr val="B8BECC"/>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74320"/>
          </a:xfrm>
          <a:prstGeom prst="rect">
            <a:avLst/>
          </a:prstGeom>
          <a:noFill/>
        </p:spPr>
        <p:txBody>
          <a:bodyPr wrap="square" anchor="t" lIns="0" rIns="0" tIns="0" bIns="0">
            <a:spAutoFit/>
          </a:bodyPr>
          <a:lstStyle/>
          <a:p>
            <a:pPr algn="l">
              <a:lnSpc>
                <a:spcPct val="100000"/>
              </a:lnSpc>
              <a:spcAft>
                <a:spcPts val="0"/>
              </a:spcAft>
            </a:pPr>
            <a:r>
              <a:rPr sz="1150" b="1" i="0">
                <a:solidFill>
                  <a:srgbClr val="E94560"/>
                </a:solidFill>
                <a:latin typeface="Calibri"/>
              </a:rPr>
              <a:t>PILLAR I</a:t>
            </a:r>
          </a:p>
        </p:txBody>
      </p:sp>
      <p:sp>
        <p:nvSpPr>
          <p:cNvPr id="4" name="TextBox 3"/>
          <p:cNvSpPr txBox="1"/>
          <p:nvPr/>
        </p:nvSpPr>
        <p:spPr>
          <a:xfrm>
            <a:off x="777240" y="786384"/>
            <a:ext cx="10637215" cy="566928"/>
          </a:xfrm>
          <a:prstGeom prst="rect">
            <a:avLst/>
          </a:prstGeom>
          <a:noFill/>
        </p:spPr>
        <p:txBody>
          <a:bodyPr wrap="square" anchor="t" lIns="0" rIns="0" tIns="0" bIns="0">
            <a:spAutoFit/>
          </a:bodyPr>
          <a:lstStyle/>
          <a:p>
            <a:pPr algn="l">
              <a:lnSpc>
                <a:spcPct val="100000"/>
              </a:lnSpc>
              <a:spcAft>
                <a:spcPts val="0"/>
              </a:spcAft>
            </a:pPr>
            <a:r>
              <a:rPr sz="3000" b="0" i="0">
                <a:solidFill>
                  <a:srgbClr val="1A1A2E"/>
                </a:solidFill>
                <a:latin typeface="Georgia"/>
              </a:rPr>
              <a:t>Software Engineering</a:t>
            </a:r>
          </a:p>
        </p:txBody>
      </p:sp>
      <p:sp>
        <p:nvSpPr>
          <p:cNvPr id="5" name="Rectangle 4"/>
          <p:cNvSpPr/>
          <p:nvPr/>
        </p:nvSpPr>
        <p:spPr>
          <a:xfrm>
            <a:off x="777240" y="1426464"/>
            <a:ext cx="566928" cy="38100"/>
          </a:xfrm>
          <a:prstGeom prst="rect">
            <a:avLst/>
          </a:prstGeom>
          <a:solidFill>
            <a:srgbClr val="E945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777240" y="1645920"/>
            <a:ext cx="10637215" cy="877824"/>
          </a:xfrm>
          <a:prstGeom prst="rect">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645920"/>
            <a:ext cx="40640" cy="877824"/>
          </a:xfrm>
          <a:prstGeom prst="rect">
            <a:avLst/>
          </a:prstGeom>
          <a:solidFill>
            <a:srgbClr val="E945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14984" y="1792224"/>
            <a:ext cx="384048" cy="310896"/>
          </a:xfrm>
          <a:prstGeom prst="rect">
            <a:avLst/>
          </a:prstGeom>
          <a:noFill/>
        </p:spPr>
        <p:txBody>
          <a:bodyPr wrap="square" anchor="t" lIns="0" rIns="0" tIns="0" bIns="0">
            <a:spAutoFit/>
          </a:bodyPr>
          <a:lstStyle/>
          <a:p>
            <a:pPr algn="l">
              <a:lnSpc>
                <a:spcPct val="100000"/>
              </a:lnSpc>
              <a:spcAft>
                <a:spcPts val="0"/>
              </a:spcAft>
            </a:pPr>
            <a:r>
              <a:rPr sz="1500" b="1" i="0">
                <a:solidFill>
                  <a:srgbClr val="E94560"/>
                </a:solidFill>
                <a:latin typeface="Georgia"/>
              </a:rPr>
              <a:t>01</a:t>
            </a:r>
          </a:p>
        </p:txBody>
      </p:sp>
      <p:sp>
        <p:nvSpPr>
          <p:cNvPr id="9" name="TextBox 8"/>
          <p:cNvSpPr txBox="1"/>
          <p:nvPr/>
        </p:nvSpPr>
        <p:spPr>
          <a:xfrm>
            <a:off x="1490472" y="1783080"/>
            <a:ext cx="9649663" cy="274320"/>
          </a:xfrm>
          <a:prstGeom prst="rect">
            <a:avLst/>
          </a:prstGeom>
          <a:noFill/>
        </p:spPr>
        <p:txBody>
          <a:bodyPr wrap="square" anchor="t" lIns="0" rIns="0" tIns="0" bIns="0">
            <a:spAutoFit/>
          </a:bodyPr>
          <a:lstStyle/>
          <a:p>
            <a:pPr algn="l">
              <a:lnSpc>
                <a:spcPct val="100000"/>
              </a:lnSpc>
              <a:spcAft>
                <a:spcPts val="0"/>
              </a:spcAft>
            </a:pPr>
            <a:r>
              <a:rPr sz="1500" b="1" i="0">
                <a:solidFill>
                  <a:srgbClr val="1A1A2E"/>
                </a:solidFill>
                <a:latin typeface="Calibri"/>
              </a:rPr>
              <a:t>AI Agents in Software Development</a:t>
            </a:r>
          </a:p>
        </p:txBody>
      </p:sp>
      <p:sp>
        <p:nvSpPr>
          <p:cNvPr id="10" name="TextBox 9"/>
          <p:cNvSpPr txBox="1"/>
          <p:nvPr/>
        </p:nvSpPr>
        <p:spPr>
          <a:xfrm>
            <a:off x="1490472" y="2049780"/>
            <a:ext cx="9649663" cy="420624"/>
          </a:xfrm>
          <a:prstGeom prst="rect">
            <a:avLst/>
          </a:prstGeom>
          <a:noFill/>
        </p:spPr>
        <p:txBody>
          <a:bodyPr wrap="square" anchor="t" lIns="0" rIns="0" tIns="0" bIns="0">
            <a:spAutoFit/>
          </a:bodyPr>
          <a:lstStyle/>
          <a:p>
            <a:pPr algn="l">
              <a:lnSpc>
                <a:spcPct val="112000"/>
              </a:lnSpc>
              <a:spcAft>
                <a:spcPts val="0"/>
              </a:spcAft>
            </a:pPr>
            <a:r>
              <a:rPr sz="1150" b="0" i="0">
                <a:solidFill>
                  <a:srgbClr val="666666"/>
                </a:solidFill>
                <a:latin typeface="Calibri"/>
              </a:rPr>
              <a:t>Agents now touch requirements, code, tests and operations. We map what they actually do at each stage, then build evaluations that measure something real instead of a leaderboard delta.</a:t>
            </a:r>
          </a:p>
        </p:txBody>
      </p:sp>
      <p:sp>
        <p:nvSpPr>
          <p:cNvPr id="11" name="Rectangle 10"/>
          <p:cNvSpPr/>
          <p:nvPr/>
        </p:nvSpPr>
        <p:spPr>
          <a:xfrm>
            <a:off x="777240" y="2564892"/>
            <a:ext cx="10637215" cy="877824"/>
          </a:xfrm>
          <a:prstGeom prst="rect">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2564892"/>
            <a:ext cx="40640" cy="877824"/>
          </a:xfrm>
          <a:prstGeom prst="rect">
            <a:avLst/>
          </a:prstGeom>
          <a:solidFill>
            <a:srgbClr val="F39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14984" y="2711196"/>
            <a:ext cx="384048" cy="310896"/>
          </a:xfrm>
          <a:prstGeom prst="rect">
            <a:avLst/>
          </a:prstGeom>
          <a:noFill/>
        </p:spPr>
        <p:txBody>
          <a:bodyPr wrap="square" anchor="t" lIns="0" rIns="0" tIns="0" bIns="0">
            <a:spAutoFit/>
          </a:bodyPr>
          <a:lstStyle/>
          <a:p>
            <a:pPr algn="l">
              <a:lnSpc>
                <a:spcPct val="100000"/>
              </a:lnSpc>
              <a:spcAft>
                <a:spcPts val="0"/>
              </a:spcAft>
            </a:pPr>
            <a:r>
              <a:rPr sz="1500" b="1" i="0">
                <a:solidFill>
                  <a:srgbClr val="E94560"/>
                </a:solidFill>
                <a:latin typeface="Georgia"/>
              </a:rPr>
              <a:t>02</a:t>
            </a:r>
          </a:p>
        </p:txBody>
      </p:sp>
      <p:sp>
        <p:nvSpPr>
          <p:cNvPr id="14" name="TextBox 13"/>
          <p:cNvSpPr txBox="1"/>
          <p:nvPr/>
        </p:nvSpPr>
        <p:spPr>
          <a:xfrm>
            <a:off x="1490472" y="2702052"/>
            <a:ext cx="9649663" cy="274320"/>
          </a:xfrm>
          <a:prstGeom prst="rect">
            <a:avLst/>
          </a:prstGeom>
          <a:noFill/>
        </p:spPr>
        <p:txBody>
          <a:bodyPr wrap="square" anchor="t" lIns="0" rIns="0" tIns="0" bIns="0">
            <a:spAutoFit/>
          </a:bodyPr>
          <a:lstStyle/>
          <a:p>
            <a:pPr algn="l">
              <a:lnSpc>
                <a:spcPct val="100000"/>
              </a:lnSpc>
              <a:spcAft>
                <a:spcPts val="0"/>
              </a:spcAft>
            </a:pPr>
            <a:r>
              <a:rPr sz="1500" b="1" i="0">
                <a:solidFill>
                  <a:srgbClr val="1A1A2E"/>
                </a:solidFill>
                <a:latin typeface="Calibri"/>
              </a:rPr>
              <a:t>AI Governance</a:t>
            </a:r>
          </a:p>
        </p:txBody>
      </p:sp>
      <p:sp>
        <p:nvSpPr>
          <p:cNvPr id="15" name="TextBox 14"/>
          <p:cNvSpPr txBox="1"/>
          <p:nvPr/>
        </p:nvSpPr>
        <p:spPr>
          <a:xfrm>
            <a:off x="1490472" y="2968752"/>
            <a:ext cx="9649663" cy="420624"/>
          </a:xfrm>
          <a:prstGeom prst="rect">
            <a:avLst/>
          </a:prstGeom>
          <a:noFill/>
        </p:spPr>
        <p:txBody>
          <a:bodyPr wrap="square" anchor="t" lIns="0" rIns="0" tIns="0" bIns="0">
            <a:spAutoFit/>
          </a:bodyPr>
          <a:lstStyle/>
          <a:p>
            <a:pPr algn="l">
              <a:lnSpc>
                <a:spcPct val="112000"/>
              </a:lnSpc>
              <a:spcAft>
                <a:spcPts val="0"/>
              </a:spcAft>
            </a:pPr>
            <a:r>
              <a:rPr sz="1150" b="0" i="0">
                <a:solidFill>
                  <a:srgbClr val="666666"/>
                </a:solidFill>
                <a:latin typeface="Calibri"/>
              </a:rPr>
              <a:t>Someone should be able to ask why a system accepted AI-written code. We record what justified the decision. A patch that passes the existing tests has proved little, so we write new ones built to break it.</a:t>
            </a:r>
          </a:p>
        </p:txBody>
      </p:sp>
      <p:sp>
        <p:nvSpPr>
          <p:cNvPr id="16" name="Rectangle 15"/>
          <p:cNvSpPr/>
          <p:nvPr/>
        </p:nvSpPr>
        <p:spPr>
          <a:xfrm>
            <a:off x="777240" y="3483864"/>
            <a:ext cx="10637215" cy="877824"/>
          </a:xfrm>
          <a:prstGeom prst="rect">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483864"/>
            <a:ext cx="40640" cy="877824"/>
          </a:xfrm>
          <a:prstGeom prst="rect">
            <a:avLst/>
          </a:prstGeom>
          <a:solidFill>
            <a:srgbClr val="E945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14984" y="3630168"/>
            <a:ext cx="384048" cy="310896"/>
          </a:xfrm>
          <a:prstGeom prst="rect">
            <a:avLst/>
          </a:prstGeom>
          <a:noFill/>
        </p:spPr>
        <p:txBody>
          <a:bodyPr wrap="square" anchor="t" lIns="0" rIns="0" tIns="0" bIns="0">
            <a:spAutoFit/>
          </a:bodyPr>
          <a:lstStyle/>
          <a:p>
            <a:pPr algn="l">
              <a:lnSpc>
                <a:spcPct val="100000"/>
              </a:lnSpc>
              <a:spcAft>
                <a:spcPts val="0"/>
              </a:spcAft>
            </a:pPr>
            <a:r>
              <a:rPr sz="1500" b="1" i="0">
                <a:solidFill>
                  <a:srgbClr val="E94560"/>
                </a:solidFill>
                <a:latin typeface="Georgia"/>
              </a:rPr>
              <a:t>03</a:t>
            </a:r>
          </a:p>
        </p:txBody>
      </p:sp>
      <p:sp>
        <p:nvSpPr>
          <p:cNvPr id="19" name="TextBox 18"/>
          <p:cNvSpPr txBox="1"/>
          <p:nvPr/>
        </p:nvSpPr>
        <p:spPr>
          <a:xfrm>
            <a:off x="1490472" y="3621024"/>
            <a:ext cx="9649663" cy="274320"/>
          </a:xfrm>
          <a:prstGeom prst="rect">
            <a:avLst/>
          </a:prstGeom>
          <a:noFill/>
        </p:spPr>
        <p:txBody>
          <a:bodyPr wrap="square" anchor="t" lIns="0" rIns="0" tIns="0" bIns="0">
            <a:spAutoFit/>
          </a:bodyPr>
          <a:lstStyle/>
          <a:p>
            <a:pPr algn="l">
              <a:lnSpc>
                <a:spcPct val="100000"/>
              </a:lnSpc>
              <a:spcAft>
                <a:spcPts val="0"/>
              </a:spcAft>
            </a:pPr>
            <a:r>
              <a:rPr sz="1500" b="1" i="0">
                <a:solidFill>
                  <a:srgbClr val="1A1A2E"/>
                </a:solidFill>
                <a:latin typeface="Calibri"/>
              </a:rPr>
              <a:t>Static Analysis and Testing</a:t>
            </a:r>
          </a:p>
        </p:txBody>
      </p:sp>
      <p:sp>
        <p:nvSpPr>
          <p:cNvPr id="20" name="TextBox 19"/>
          <p:cNvSpPr txBox="1"/>
          <p:nvPr/>
        </p:nvSpPr>
        <p:spPr>
          <a:xfrm>
            <a:off x="1490472" y="3887724"/>
            <a:ext cx="9649663" cy="420624"/>
          </a:xfrm>
          <a:prstGeom prst="rect">
            <a:avLst/>
          </a:prstGeom>
          <a:noFill/>
        </p:spPr>
        <p:txBody>
          <a:bodyPr wrap="square" anchor="t" lIns="0" rIns="0" tIns="0" bIns="0">
            <a:spAutoFit/>
          </a:bodyPr>
          <a:lstStyle/>
          <a:p>
            <a:pPr algn="l">
              <a:lnSpc>
                <a:spcPct val="112000"/>
              </a:lnSpc>
              <a:spcAft>
                <a:spcPts val="0"/>
              </a:spcAft>
            </a:pPr>
            <a:r>
              <a:rPr sz="1150" b="0" i="0">
                <a:solidFill>
                  <a:srgbClr val="666666"/>
                </a:solidFill>
                <a:latin typeface="Calibri"/>
              </a:rPr>
              <a:t>Nobody trusts an analyser that cries wolf. We rank alerts on evidence pulled from the repository and attach honest confidence to each, so the queue is worth working through.</a:t>
            </a:r>
          </a:p>
        </p:txBody>
      </p:sp>
      <p:sp>
        <p:nvSpPr>
          <p:cNvPr id="21" name="Rectangle 20"/>
          <p:cNvSpPr/>
          <p:nvPr/>
        </p:nvSpPr>
        <p:spPr>
          <a:xfrm>
            <a:off x="777240" y="4402836"/>
            <a:ext cx="10637215" cy="877824"/>
          </a:xfrm>
          <a:prstGeom prst="rect">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77240" y="4402836"/>
            <a:ext cx="40640" cy="877824"/>
          </a:xfrm>
          <a:prstGeom prst="rect">
            <a:avLst/>
          </a:prstGeom>
          <a:solidFill>
            <a:srgbClr val="F39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014984" y="4549140"/>
            <a:ext cx="384048" cy="310896"/>
          </a:xfrm>
          <a:prstGeom prst="rect">
            <a:avLst/>
          </a:prstGeom>
          <a:noFill/>
        </p:spPr>
        <p:txBody>
          <a:bodyPr wrap="square" anchor="t" lIns="0" rIns="0" tIns="0" bIns="0">
            <a:spAutoFit/>
          </a:bodyPr>
          <a:lstStyle/>
          <a:p>
            <a:pPr algn="l">
              <a:lnSpc>
                <a:spcPct val="100000"/>
              </a:lnSpc>
              <a:spcAft>
                <a:spcPts val="0"/>
              </a:spcAft>
            </a:pPr>
            <a:r>
              <a:rPr sz="1500" b="1" i="0">
                <a:solidFill>
                  <a:srgbClr val="E94560"/>
                </a:solidFill>
                <a:latin typeface="Georgia"/>
              </a:rPr>
              <a:t>04</a:t>
            </a:r>
          </a:p>
        </p:txBody>
      </p:sp>
      <p:sp>
        <p:nvSpPr>
          <p:cNvPr id="24" name="TextBox 23"/>
          <p:cNvSpPr txBox="1"/>
          <p:nvPr/>
        </p:nvSpPr>
        <p:spPr>
          <a:xfrm>
            <a:off x="1490472" y="4539996"/>
            <a:ext cx="9649663" cy="274320"/>
          </a:xfrm>
          <a:prstGeom prst="rect">
            <a:avLst/>
          </a:prstGeom>
          <a:noFill/>
        </p:spPr>
        <p:txBody>
          <a:bodyPr wrap="square" anchor="t" lIns="0" rIns="0" tIns="0" bIns="0">
            <a:spAutoFit/>
          </a:bodyPr>
          <a:lstStyle/>
          <a:p>
            <a:pPr algn="l">
              <a:lnSpc>
                <a:spcPct val="100000"/>
              </a:lnSpc>
              <a:spcAft>
                <a:spcPts val="0"/>
              </a:spcAft>
            </a:pPr>
            <a:r>
              <a:rPr sz="1500" b="1" i="0">
                <a:solidFill>
                  <a:srgbClr val="1A1A2E"/>
                </a:solidFill>
                <a:latin typeface="Calibri"/>
              </a:rPr>
              <a:t>Agent Reliability</a:t>
            </a:r>
          </a:p>
        </p:txBody>
      </p:sp>
      <p:sp>
        <p:nvSpPr>
          <p:cNvPr id="25" name="TextBox 24"/>
          <p:cNvSpPr txBox="1"/>
          <p:nvPr/>
        </p:nvSpPr>
        <p:spPr>
          <a:xfrm>
            <a:off x="1490472" y="4806696"/>
            <a:ext cx="9649663" cy="420624"/>
          </a:xfrm>
          <a:prstGeom prst="rect">
            <a:avLst/>
          </a:prstGeom>
          <a:noFill/>
        </p:spPr>
        <p:txBody>
          <a:bodyPr wrap="square" anchor="t" lIns="0" rIns="0" tIns="0" bIns="0">
            <a:spAutoFit/>
          </a:bodyPr>
          <a:lstStyle/>
          <a:p>
            <a:pPr algn="l">
              <a:lnSpc>
                <a:spcPct val="112000"/>
              </a:lnSpc>
              <a:spcAft>
                <a:spcPts val="0"/>
              </a:spcAft>
            </a:pPr>
            <a:r>
              <a:rPr sz="1150" b="0" i="0">
                <a:solidFill>
                  <a:srgbClr val="666666"/>
                </a:solidFill>
                <a:latin typeface="Calibri"/>
              </a:rPr>
              <a:t>An agent is a stochastic system, so we model it as one. Fitting execution traces to Markov chains yields error bars and a goodness-of-fit test. A single benchmark score yields neither.</a:t>
            </a:r>
          </a:p>
        </p:txBody>
      </p:sp>
      <p:sp>
        <p:nvSpPr>
          <p:cNvPr id="26" name="Rectangle 25"/>
          <p:cNvSpPr/>
          <p:nvPr/>
        </p:nvSpPr>
        <p:spPr>
          <a:xfrm>
            <a:off x="777240" y="5321808"/>
            <a:ext cx="10637215" cy="877824"/>
          </a:xfrm>
          <a:prstGeom prst="rect">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5321808"/>
            <a:ext cx="40640" cy="877824"/>
          </a:xfrm>
          <a:prstGeom prst="rect">
            <a:avLst/>
          </a:prstGeom>
          <a:solidFill>
            <a:srgbClr val="E945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014984" y="5468112"/>
            <a:ext cx="384048" cy="310896"/>
          </a:xfrm>
          <a:prstGeom prst="rect">
            <a:avLst/>
          </a:prstGeom>
          <a:noFill/>
        </p:spPr>
        <p:txBody>
          <a:bodyPr wrap="square" anchor="t" lIns="0" rIns="0" tIns="0" bIns="0">
            <a:spAutoFit/>
          </a:bodyPr>
          <a:lstStyle/>
          <a:p>
            <a:pPr algn="l">
              <a:lnSpc>
                <a:spcPct val="100000"/>
              </a:lnSpc>
              <a:spcAft>
                <a:spcPts val="0"/>
              </a:spcAft>
            </a:pPr>
            <a:r>
              <a:rPr sz="1500" b="1" i="0">
                <a:solidFill>
                  <a:srgbClr val="E94560"/>
                </a:solidFill>
                <a:latin typeface="Georgia"/>
              </a:rPr>
              <a:t>05</a:t>
            </a:r>
          </a:p>
        </p:txBody>
      </p:sp>
      <p:sp>
        <p:nvSpPr>
          <p:cNvPr id="29" name="TextBox 28"/>
          <p:cNvSpPr txBox="1"/>
          <p:nvPr/>
        </p:nvSpPr>
        <p:spPr>
          <a:xfrm>
            <a:off x="1490472" y="5458968"/>
            <a:ext cx="9649663" cy="274320"/>
          </a:xfrm>
          <a:prstGeom prst="rect">
            <a:avLst/>
          </a:prstGeom>
          <a:noFill/>
        </p:spPr>
        <p:txBody>
          <a:bodyPr wrap="square" anchor="t" lIns="0" rIns="0" tIns="0" bIns="0">
            <a:spAutoFit/>
          </a:bodyPr>
          <a:lstStyle/>
          <a:p>
            <a:pPr algn="l">
              <a:lnSpc>
                <a:spcPct val="100000"/>
              </a:lnSpc>
              <a:spcAft>
                <a:spcPts val="0"/>
              </a:spcAft>
            </a:pPr>
            <a:r>
              <a:rPr sz="1500" b="1" i="0">
                <a:solidFill>
                  <a:srgbClr val="1A1A2E"/>
                </a:solidFill>
                <a:latin typeface="Calibri"/>
              </a:rPr>
              <a:t>Testing for Quantum Programs</a:t>
            </a:r>
          </a:p>
        </p:txBody>
      </p:sp>
      <p:sp>
        <p:nvSpPr>
          <p:cNvPr id="30" name="TextBox 29"/>
          <p:cNvSpPr txBox="1"/>
          <p:nvPr/>
        </p:nvSpPr>
        <p:spPr>
          <a:xfrm>
            <a:off x="1490472" y="5725668"/>
            <a:ext cx="9649663" cy="420624"/>
          </a:xfrm>
          <a:prstGeom prst="rect">
            <a:avLst/>
          </a:prstGeom>
          <a:noFill/>
        </p:spPr>
        <p:txBody>
          <a:bodyPr wrap="square" anchor="t" lIns="0" rIns="0" tIns="0" bIns="0">
            <a:spAutoFit/>
          </a:bodyPr>
          <a:lstStyle/>
          <a:p>
            <a:pPr algn="l">
              <a:lnSpc>
                <a:spcPct val="112000"/>
              </a:lnSpc>
              <a:spcAft>
                <a:spcPts val="0"/>
              </a:spcAft>
            </a:pPr>
            <a:r>
              <a:rPr sz="1150" b="0" i="0">
                <a:solidFill>
                  <a:srgbClr val="666666"/>
                </a:solidFill>
                <a:latin typeface="Calibri"/>
              </a:rPr>
              <a:t>You cannot debug a quantum program by running it and printing values. Correctness has to come from the type system and the logic, which is where our earlier work on separation logic pays off.</a:t>
            </a:r>
          </a:p>
        </p:txBody>
      </p:sp>
      <p:sp>
        <p:nvSpPr>
          <p:cNvPr id="31" name="TextBox 30"/>
          <p:cNvSpPr txBox="1"/>
          <p:nvPr/>
        </p:nvSpPr>
        <p:spPr>
          <a:xfrm>
            <a:off x="777240" y="6291072"/>
            <a:ext cx="10271455" cy="219456"/>
          </a:xfrm>
          <a:prstGeom prst="rect">
            <a:avLst/>
          </a:prstGeom>
          <a:noFill/>
        </p:spPr>
        <p:txBody>
          <a:bodyPr wrap="square" anchor="t" lIns="0" rIns="0" tIns="0" bIns="0">
            <a:spAutoFit/>
          </a:bodyPr>
          <a:lstStyle/>
          <a:p>
            <a:pPr algn="l">
              <a:lnSpc>
                <a:spcPct val="100000"/>
              </a:lnSpc>
              <a:spcAft>
                <a:spcPts val="0"/>
              </a:spcAft>
            </a:pPr>
            <a:r>
              <a:rPr sz="950" b="0" i="0">
                <a:solidFill>
                  <a:srgbClr val="666666"/>
                </a:solidFill>
                <a:latin typeface="Calibri"/>
              </a:rPr>
              <a:t>RAISE Lab  ·  HCMUT, VNU-HCM</a:t>
            </a:r>
          </a:p>
        </p:txBody>
      </p:sp>
      <p:sp>
        <p:nvSpPr>
          <p:cNvPr id="32" name="TextBox 31"/>
          <p:cNvSpPr txBox="1"/>
          <p:nvPr/>
        </p:nvSpPr>
        <p:spPr>
          <a:xfrm>
            <a:off x="10865815" y="6291072"/>
            <a:ext cx="548640" cy="219456"/>
          </a:xfrm>
          <a:prstGeom prst="rect">
            <a:avLst/>
          </a:prstGeom>
          <a:noFill/>
        </p:spPr>
        <p:txBody>
          <a:bodyPr wrap="square" anchor="t" lIns="0" rIns="0" tIns="0" bIns="0">
            <a:spAutoFit/>
          </a:bodyPr>
          <a:lstStyle/>
          <a:p>
            <a:pPr algn="r">
              <a:lnSpc>
                <a:spcPct val="100000"/>
              </a:lnSpc>
              <a:spcAft>
                <a:spcPts val="0"/>
              </a:spcAft>
            </a:pPr>
            <a:r>
              <a:rPr sz="950" b="0" i="0">
                <a:solidFill>
                  <a:srgbClr val="666666"/>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74320"/>
          </a:xfrm>
          <a:prstGeom prst="rect">
            <a:avLst/>
          </a:prstGeom>
          <a:noFill/>
        </p:spPr>
        <p:txBody>
          <a:bodyPr wrap="square" anchor="t" lIns="0" rIns="0" tIns="0" bIns="0">
            <a:spAutoFit/>
          </a:bodyPr>
          <a:lstStyle/>
          <a:p>
            <a:pPr algn="l">
              <a:lnSpc>
                <a:spcPct val="100000"/>
              </a:lnSpc>
              <a:spcAft>
                <a:spcPts val="0"/>
              </a:spcAft>
            </a:pPr>
            <a:r>
              <a:rPr sz="1150" b="1" i="0">
                <a:solidFill>
                  <a:srgbClr val="E94560"/>
                </a:solidFill>
                <a:latin typeface="Calibri"/>
              </a:rPr>
              <a:t>PILLAR II</a:t>
            </a:r>
          </a:p>
        </p:txBody>
      </p:sp>
      <p:sp>
        <p:nvSpPr>
          <p:cNvPr id="4" name="TextBox 3"/>
          <p:cNvSpPr txBox="1"/>
          <p:nvPr/>
        </p:nvSpPr>
        <p:spPr>
          <a:xfrm>
            <a:off x="777240" y="786384"/>
            <a:ext cx="10637215" cy="566928"/>
          </a:xfrm>
          <a:prstGeom prst="rect">
            <a:avLst/>
          </a:prstGeom>
          <a:noFill/>
        </p:spPr>
        <p:txBody>
          <a:bodyPr wrap="square" anchor="t" lIns="0" rIns="0" tIns="0" bIns="0">
            <a:spAutoFit/>
          </a:bodyPr>
          <a:lstStyle/>
          <a:p>
            <a:pPr algn="l">
              <a:lnSpc>
                <a:spcPct val="100000"/>
              </a:lnSpc>
              <a:spcAft>
                <a:spcPts val="0"/>
              </a:spcAft>
            </a:pPr>
            <a:r>
              <a:rPr sz="3000" b="0" i="0">
                <a:solidFill>
                  <a:srgbClr val="1A1A2E"/>
                </a:solidFill>
                <a:latin typeface="Georgia"/>
              </a:rPr>
              <a:t>Artificial Intelligence and Machine Learning</a:t>
            </a:r>
          </a:p>
        </p:txBody>
      </p:sp>
      <p:sp>
        <p:nvSpPr>
          <p:cNvPr id="5" name="Rectangle 4"/>
          <p:cNvSpPr/>
          <p:nvPr/>
        </p:nvSpPr>
        <p:spPr>
          <a:xfrm>
            <a:off x="777240" y="1426464"/>
            <a:ext cx="566928" cy="38100"/>
          </a:xfrm>
          <a:prstGeom prst="rect">
            <a:avLst/>
          </a:prstGeom>
          <a:solidFill>
            <a:srgbClr val="E945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777240" y="1645920"/>
            <a:ext cx="10637215" cy="877824"/>
          </a:xfrm>
          <a:prstGeom prst="rect">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645920"/>
            <a:ext cx="40640" cy="877824"/>
          </a:xfrm>
          <a:prstGeom prst="rect">
            <a:avLst/>
          </a:prstGeom>
          <a:solidFill>
            <a:srgbClr val="E945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14984" y="1792224"/>
            <a:ext cx="384048" cy="310896"/>
          </a:xfrm>
          <a:prstGeom prst="rect">
            <a:avLst/>
          </a:prstGeom>
          <a:noFill/>
        </p:spPr>
        <p:txBody>
          <a:bodyPr wrap="square" anchor="t" lIns="0" rIns="0" tIns="0" bIns="0">
            <a:spAutoFit/>
          </a:bodyPr>
          <a:lstStyle/>
          <a:p>
            <a:pPr algn="l">
              <a:lnSpc>
                <a:spcPct val="100000"/>
              </a:lnSpc>
              <a:spcAft>
                <a:spcPts val="0"/>
              </a:spcAft>
            </a:pPr>
            <a:r>
              <a:rPr sz="1500" b="1" i="0">
                <a:solidFill>
                  <a:srgbClr val="E94560"/>
                </a:solidFill>
                <a:latin typeface="Georgia"/>
              </a:rPr>
              <a:t>01</a:t>
            </a:r>
          </a:p>
        </p:txBody>
      </p:sp>
      <p:sp>
        <p:nvSpPr>
          <p:cNvPr id="9" name="TextBox 8"/>
          <p:cNvSpPr txBox="1"/>
          <p:nvPr/>
        </p:nvSpPr>
        <p:spPr>
          <a:xfrm>
            <a:off x="1490472" y="1783080"/>
            <a:ext cx="9649663" cy="274320"/>
          </a:xfrm>
          <a:prstGeom prst="rect">
            <a:avLst/>
          </a:prstGeom>
          <a:noFill/>
        </p:spPr>
        <p:txBody>
          <a:bodyPr wrap="square" anchor="t" lIns="0" rIns="0" tIns="0" bIns="0">
            <a:spAutoFit/>
          </a:bodyPr>
          <a:lstStyle/>
          <a:p>
            <a:pPr algn="l">
              <a:lnSpc>
                <a:spcPct val="100000"/>
              </a:lnSpc>
              <a:spcAft>
                <a:spcPts val="0"/>
              </a:spcAft>
            </a:pPr>
            <a:r>
              <a:rPr sz="1500" b="1" i="0">
                <a:solidFill>
                  <a:srgbClr val="1A1A2E"/>
                </a:solidFill>
                <a:latin typeface="Calibri"/>
              </a:rPr>
              <a:t>AI Evaluation and Benchmarks</a:t>
            </a:r>
          </a:p>
        </p:txBody>
      </p:sp>
      <p:sp>
        <p:nvSpPr>
          <p:cNvPr id="10" name="TextBox 9"/>
          <p:cNvSpPr txBox="1"/>
          <p:nvPr/>
        </p:nvSpPr>
        <p:spPr>
          <a:xfrm>
            <a:off x="1490472" y="2049780"/>
            <a:ext cx="9649663" cy="420624"/>
          </a:xfrm>
          <a:prstGeom prst="rect">
            <a:avLst/>
          </a:prstGeom>
          <a:noFill/>
        </p:spPr>
        <p:txBody>
          <a:bodyPr wrap="square" anchor="t" lIns="0" rIns="0" tIns="0" bIns="0">
            <a:spAutoFit/>
          </a:bodyPr>
          <a:lstStyle/>
          <a:p>
            <a:pPr algn="l">
              <a:lnSpc>
                <a:spcPct val="112000"/>
              </a:lnSpc>
              <a:spcAft>
                <a:spcPts val="0"/>
              </a:spcAft>
            </a:pPr>
            <a:r>
              <a:rPr sz="1150" b="0" i="0">
                <a:solidFill>
                  <a:srgbClr val="666666"/>
                </a:solidFill>
                <a:latin typeface="Calibri"/>
              </a:rPr>
              <a:t>Using a model as a judge turns it into a measuring instrument, and instruments need calibrating. We score judges against verifiable ground truth and watch for benchmarks going stale through contamination.</a:t>
            </a:r>
          </a:p>
        </p:txBody>
      </p:sp>
      <p:sp>
        <p:nvSpPr>
          <p:cNvPr id="11" name="Rectangle 10"/>
          <p:cNvSpPr/>
          <p:nvPr/>
        </p:nvSpPr>
        <p:spPr>
          <a:xfrm>
            <a:off x="777240" y="2564892"/>
            <a:ext cx="10637215" cy="877824"/>
          </a:xfrm>
          <a:prstGeom prst="rect">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2564892"/>
            <a:ext cx="40640" cy="877824"/>
          </a:xfrm>
          <a:prstGeom prst="rect">
            <a:avLst/>
          </a:prstGeom>
          <a:solidFill>
            <a:srgbClr val="F39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14984" y="2711196"/>
            <a:ext cx="384048" cy="310896"/>
          </a:xfrm>
          <a:prstGeom prst="rect">
            <a:avLst/>
          </a:prstGeom>
          <a:noFill/>
        </p:spPr>
        <p:txBody>
          <a:bodyPr wrap="square" anchor="t" lIns="0" rIns="0" tIns="0" bIns="0">
            <a:spAutoFit/>
          </a:bodyPr>
          <a:lstStyle/>
          <a:p>
            <a:pPr algn="l">
              <a:lnSpc>
                <a:spcPct val="100000"/>
              </a:lnSpc>
              <a:spcAft>
                <a:spcPts val="0"/>
              </a:spcAft>
            </a:pPr>
            <a:r>
              <a:rPr sz="1500" b="1" i="0">
                <a:solidFill>
                  <a:srgbClr val="E94560"/>
                </a:solidFill>
                <a:latin typeface="Georgia"/>
              </a:rPr>
              <a:t>02</a:t>
            </a:r>
          </a:p>
        </p:txBody>
      </p:sp>
      <p:sp>
        <p:nvSpPr>
          <p:cNvPr id="14" name="TextBox 13"/>
          <p:cNvSpPr txBox="1"/>
          <p:nvPr/>
        </p:nvSpPr>
        <p:spPr>
          <a:xfrm>
            <a:off x="1490472" y="2702052"/>
            <a:ext cx="9649663" cy="274320"/>
          </a:xfrm>
          <a:prstGeom prst="rect">
            <a:avLst/>
          </a:prstGeom>
          <a:noFill/>
        </p:spPr>
        <p:txBody>
          <a:bodyPr wrap="square" anchor="t" lIns="0" rIns="0" tIns="0" bIns="0">
            <a:spAutoFit/>
          </a:bodyPr>
          <a:lstStyle/>
          <a:p>
            <a:pPr algn="l">
              <a:lnSpc>
                <a:spcPct val="100000"/>
              </a:lnSpc>
              <a:spcAft>
                <a:spcPts val="0"/>
              </a:spcAft>
            </a:pPr>
            <a:r>
              <a:rPr sz="1500" b="1" i="0">
                <a:solidFill>
                  <a:srgbClr val="1A1A2E"/>
                </a:solidFill>
                <a:latin typeface="Calibri"/>
              </a:rPr>
              <a:t>Uncertainty and Selective Prediction</a:t>
            </a:r>
          </a:p>
        </p:txBody>
      </p:sp>
      <p:sp>
        <p:nvSpPr>
          <p:cNvPr id="15" name="TextBox 14"/>
          <p:cNvSpPr txBox="1"/>
          <p:nvPr/>
        </p:nvSpPr>
        <p:spPr>
          <a:xfrm>
            <a:off x="1490472" y="2968752"/>
            <a:ext cx="9649663" cy="420624"/>
          </a:xfrm>
          <a:prstGeom prst="rect">
            <a:avLst/>
          </a:prstGeom>
          <a:noFill/>
        </p:spPr>
        <p:txBody>
          <a:bodyPr wrap="square" anchor="t" lIns="0" rIns="0" tIns="0" bIns="0">
            <a:spAutoFit/>
          </a:bodyPr>
          <a:lstStyle/>
          <a:p>
            <a:pPr algn="l">
              <a:lnSpc>
                <a:spcPct val="112000"/>
              </a:lnSpc>
              <a:spcAft>
                <a:spcPts val="0"/>
              </a:spcAft>
            </a:pPr>
            <a:r>
              <a:rPr sz="1150" b="0" i="0">
                <a:solidFill>
                  <a:srgbClr val="666666"/>
                </a:solidFill>
                <a:latin typeface="Calibri"/>
              </a:rPr>
              <a:t>Some questions a system should decline. We build that refusal on finite-sample guarantees, set thresholds per group so fairness is not quietly traded away, and let error costs decide how cautious to be.</a:t>
            </a:r>
          </a:p>
        </p:txBody>
      </p:sp>
      <p:sp>
        <p:nvSpPr>
          <p:cNvPr id="16" name="Rectangle 15"/>
          <p:cNvSpPr/>
          <p:nvPr/>
        </p:nvSpPr>
        <p:spPr>
          <a:xfrm>
            <a:off x="777240" y="3483864"/>
            <a:ext cx="10637215" cy="877824"/>
          </a:xfrm>
          <a:prstGeom prst="rect">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483864"/>
            <a:ext cx="40640" cy="877824"/>
          </a:xfrm>
          <a:prstGeom prst="rect">
            <a:avLst/>
          </a:prstGeom>
          <a:solidFill>
            <a:srgbClr val="E945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14984" y="3630168"/>
            <a:ext cx="384048" cy="310896"/>
          </a:xfrm>
          <a:prstGeom prst="rect">
            <a:avLst/>
          </a:prstGeom>
          <a:noFill/>
        </p:spPr>
        <p:txBody>
          <a:bodyPr wrap="square" anchor="t" lIns="0" rIns="0" tIns="0" bIns="0">
            <a:spAutoFit/>
          </a:bodyPr>
          <a:lstStyle/>
          <a:p>
            <a:pPr algn="l">
              <a:lnSpc>
                <a:spcPct val="100000"/>
              </a:lnSpc>
              <a:spcAft>
                <a:spcPts val="0"/>
              </a:spcAft>
            </a:pPr>
            <a:r>
              <a:rPr sz="1500" b="1" i="0">
                <a:solidFill>
                  <a:srgbClr val="E94560"/>
                </a:solidFill>
                <a:latin typeface="Georgia"/>
              </a:rPr>
              <a:t>03</a:t>
            </a:r>
          </a:p>
        </p:txBody>
      </p:sp>
      <p:sp>
        <p:nvSpPr>
          <p:cNvPr id="19" name="TextBox 18"/>
          <p:cNvSpPr txBox="1"/>
          <p:nvPr/>
        </p:nvSpPr>
        <p:spPr>
          <a:xfrm>
            <a:off x="1490472" y="3621024"/>
            <a:ext cx="9649663" cy="274320"/>
          </a:xfrm>
          <a:prstGeom prst="rect">
            <a:avLst/>
          </a:prstGeom>
          <a:noFill/>
        </p:spPr>
        <p:txBody>
          <a:bodyPr wrap="square" anchor="t" lIns="0" rIns="0" tIns="0" bIns="0">
            <a:spAutoFit/>
          </a:bodyPr>
          <a:lstStyle/>
          <a:p>
            <a:pPr algn="l">
              <a:lnSpc>
                <a:spcPct val="100000"/>
              </a:lnSpc>
              <a:spcAft>
                <a:spcPts val="0"/>
              </a:spcAft>
            </a:pPr>
            <a:r>
              <a:rPr sz="1500" b="1" i="0">
                <a:solidFill>
                  <a:srgbClr val="1A1A2E"/>
                </a:solidFill>
                <a:latin typeface="Calibri"/>
              </a:rPr>
              <a:t>Efficient AI Systems</a:t>
            </a:r>
          </a:p>
        </p:txBody>
      </p:sp>
      <p:sp>
        <p:nvSpPr>
          <p:cNvPr id="20" name="TextBox 19"/>
          <p:cNvSpPr txBox="1"/>
          <p:nvPr/>
        </p:nvSpPr>
        <p:spPr>
          <a:xfrm>
            <a:off x="1490472" y="3887724"/>
            <a:ext cx="9649663" cy="420624"/>
          </a:xfrm>
          <a:prstGeom prst="rect">
            <a:avLst/>
          </a:prstGeom>
          <a:noFill/>
        </p:spPr>
        <p:txBody>
          <a:bodyPr wrap="square" anchor="t" lIns="0" rIns="0" tIns="0" bIns="0">
            <a:spAutoFit/>
          </a:bodyPr>
          <a:lstStyle/>
          <a:p>
            <a:pPr algn="l">
              <a:lnSpc>
                <a:spcPct val="112000"/>
              </a:lnSpc>
              <a:spcAft>
                <a:spcPts val="0"/>
              </a:spcAft>
            </a:pPr>
            <a:r>
              <a:rPr sz="1150" b="0" i="0">
                <a:solidFill>
                  <a:srgbClr val="666666"/>
                </a:solidFill>
                <a:latin typeface="Calibri"/>
              </a:rPr>
              <a:t>Five small models or one large one? Nobody can answer that without fixing the budget first. We run the comparison at equal cost, and ask how far aggregation goes before voting theory bites.</a:t>
            </a:r>
          </a:p>
        </p:txBody>
      </p:sp>
      <p:sp>
        <p:nvSpPr>
          <p:cNvPr id="21" name="Rectangle 20"/>
          <p:cNvSpPr/>
          <p:nvPr/>
        </p:nvSpPr>
        <p:spPr>
          <a:xfrm>
            <a:off x="777240" y="4402836"/>
            <a:ext cx="10637215" cy="877824"/>
          </a:xfrm>
          <a:prstGeom prst="rect">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77240" y="4402836"/>
            <a:ext cx="40640" cy="877824"/>
          </a:xfrm>
          <a:prstGeom prst="rect">
            <a:avLst/>
          </a:prstGeom>
          <a:solidFill>
            <a:srgbClr val="F39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014984" y="4549140"/>
            <a:ext cx="384048" cy="310896"/>
          </a:xfrm>
          <a:prstGeom prst="rect">
            <a:avLst/>
          </a:prstGeom>
          <a:noFill/>
        </p:spPr>
        <p:txBody>
          <a:bodyPr wrap="square" anchor="t" lIns="0" rIns="0" tIns="0" bIns="0">
            <a:spAutoFit/>
          </a:bodyPr>
          <a:lstStyle/>
          <a:p>
            <a:pPr algn="l">
              <a:lnSpc>
                <a:spcPct val="100000"/>
              </a:lnSpc>
              <a:spcAft>
                <a:spcPts val="0"/>
              </a:spcAft>
            </a:pPr>
            <a:r>
              <a:rPr sz="1500" b="1" i="0">
                <a:solidFill>
                  <a:srgbClr val="E94560"/>
                </a:solidFill>
                <a:latin typeface="Georgia"/>
              </a:rPr>
              <a:t>04</a:t>
            </a:r>
          </a:p>
        </p:txBody>
      </p:sp>
      <p:sp>
        <p:nvSpPr>
          <p:cNvPr id="24" name="TextBox 23"/>
          <p:cNvSpPr txBox="1"/>
          <p:nvPr/>
        </p:nvSpPr>
        <p:spPr>
          <a:xfrm>
            <a:off x="1490472" y="4539996"/>
            <a:ext cx="9649663" cy="274320"/>
          </a:xfrm>
          <a:prstGeom prst="rect">
            <a:avLst/>
          </a:prstGeom>
          <a:noFill/>
        </p:spPr>
        <p:txBody>
          <a:bodyPr wrap="square" anchor="t" lIns="0" rIns="0" tIns="0" bIns="0">
            <a:spAutoFit/>
          </a:bodyPr>
          <a:lstStyle/>
          <a:p>
            <a:pPr algn="l">
              <a:lnSpc>
                <a:spcPct val="100000"/>
              </a:lnSpc>
              <a:spcAft>
                <a:spcPts val="0"/>
              </a:spcAft>
            </a:pPr>
            <a:r>
              <a:rPr sz="1500" b="1" i="0">
                <a:solidFill>
                  <a:srgbClr val="1A1A2E"/>
                </a:solidFill>
                <a:latin typeface="Calibri"/>
              </a:rPr>
              <a:t>Adaptive Computer Vision</a:t>
            </a:r>
          </a:p>
        </p:txBody>
      </p:sp>
      <p:sp>
        <p:nvSpPr>
          <p:cNvPr id="25" name="TextBox 24"/>
          <p:cNvSpPr txBox="1"/>
          <p:nvPr/>
        </p:nvSpPr>
        <p:spPr>
          <a:xfrm>
            <a:off x="1490472" y="4806696"/>
            <a:ext cx="9649663" cy="420624"/>
          </a:xfrm>
          <a:prstGeom prst="rect">
            <a:avLst/>
          </a:prstGeom>
          <a:noFill/>
        </p:spPr>
        <p:txBody>
          <a:bodyPr wrap="square" anchor="t" lIns="0" rIns="0" tIns="0" bIns="0">
            <a:spAutoFit/>
          </a:bodyPr>
          <a:lstStyle/>
          <a:p>
            <a:pPr algn="l">
              <a:lnSpc>
                <a:spcPct val="112000"/>
              </a:lnSpc>
              <a:spcAft>
                <a:spcPts val="0"/>
              </a:spcAft>
            </a:pPr>
            <a:r>
              <a:rPr sz="1150" b="0" i="0">
                <a:solidFill>
                  <a:srgbClr val="666666"/>
                </a:solidFill>
                <a:latin typeface="Calibri"/>
              </a:rPr>
              <a:t>A frozen encoder meets a satellite sensor nobody trained it on. We adapt it at test time and without labels, reweighting spectral bands and routing adapters to the layers that need them.</a:t>
            </a:r>
          </a:p>
        </p:txBody>
      </p:sp>
      <p:sp>
        <p:nvSpPr>
          <p:cNvPr id="26" name="Rectangle 25"/>
          <p:cNvSpPr/>
          <p:nvPr/>
        </p:nvSpPr>
        <p:spPr>
          <a:xfrm>
            <a:off x="777240" y="5321808"/>
            <a:ext cx="10637215" cy="877824"/>
          </a:xfrm>
          <a:prstGeom prst="rect">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5321808"/>
            <a:ext cx="40640" cy="877824"/>
          </a:xfrm>
          <a:prstGeom prst="rect">
            <a:avLst/>
          </a:prstGeom>
          <a:solidFill>
            <a:srgbClr val="E945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014984" y="5468112"/>
            <a:ext cx="384048" cy="310896"/>
          </a:xfrm>
          <a:prstGeom prst="rect">
            <a:avLst/>
          </a:prstGeom>
          <a:noFill/>
        </p:spPr>
        <p:txBody>
          <a:bodyPr wrap="square" anchor="t" lIns="0" rIns="0" tIns="0" bIns="0">
            <a:spAutoFit/>
          </a:bodyPr>
          <a:lstStyle/>
          <a:p>
            <a:pPr algn="l">
              <a:lnSpc>
                <a:spcPct val="100000"/>
              </a:lnSpc>
              <a:spcAft>
                <a:spcPts val="0"/>
              </a:spcAft>
            </a:pPr>
            <a:r>
              <a:rPr sz="1500" b="1" i="0">
                <a:solidFill>
                  <a:srgbClr val="E94560"/>
                </a:solidFill>
                <a:latin typeface="Georgia"/>
              </a:rPr>
              <a:t>05</a:t>
            </a:r>
          </a:p>
        </p:txBody>
      </p:sp>
      <p:sp>
        <p:nvSpPr>
          <p:cNvPr id="29" name="TextBox 28"/>
          <p:cNvSpPr txBox="1"/>
          <p:nvPr/>
        </p:nvSpPr>
        <p:spPr>
          <a:xfrm>
            <a:off x="1490472" y="5458968"/>
            <a:ext cx="9649663" cy="274320"/>
          </a:xfrm>
          <a:prstGeom prst="rect">
            <a:avLst/>
          </a:prstGeom>
          <a:noFill/>
        </p:spPr>
        <p:txBody>
          <a:bodyPr wrap="square" anchor="t" lIns="0" rIns="0" tIns="0" bIns="0">
            <a:spAutoFit/>
          </a:bodyPr>
          <a:lstStyle/>
          <a:p>
            <a:pPr algn="l">
              <a:lnSpc>
                <a:spcPct val="100000"/>
              </a:lnSpc>
              <a:spcAft>
                <a:spcPts val="0"/>
              </a:spcAft>
            </a:pPr>
            <a:r>
              <a:rPr sz="1500" b="1" i="0">
                <a:solidFill>
                  <a:srgbClr val="1A1A2E"/>
                </a:solidFill>
                <a:latin typeface="Calibri"/>
              </a:rPr>
              <a:t>Retrieval and Multilingual NLP</a:t>
            </a:r>
          </a:p>
        </p:txBody>
      </p:sp>
      <p:sp>
        <p:nvSpPr>
          <p:cNvPr id="30" name="TextBox 29"/>
          <p:cNvSpPr txBox="1"/>
          <p:nvPr/>
        </p:nvSpPr>
        <p:spPr>
          <a:xfrm>
            <a:off x="1490472" y="5725668"/>
            <a:ext cx="9649663" cy="420624"/>
          </a:xfrm>
          <a:prstGeom prst="rect">
            <a:avLst/>
          </a:prstGeom>
          <a:noFill/>
        </p:spPr>
        <p:txBody>
          <a:bodyPr wrap="square" anchor="t" lIns="0" rIns="0" tIns="0" bIns="0">
            <a:spAutoFit/>
          </a:bodyPr>
          <a:lstStyle/>
          <a:p>
            <a:pPr algn="l">
              <a:lnSpc>
                <a:spcPct val="112000"/>
              </a:lnSpc>
              <a:spcAft>
                <a:spcPts val="0"/>
              </a:spcAft>
            </a:pPr>
            <a:r>
              <a:rPr sz="1150" b="0" i="0">
                <a:solidFill>
                  <a:srgbClr val="666666"/>
                </a:solidFill>
                <a:latin typeface="Calibri"/>
              </a:rPr>
              <a:t>Legal text is full of amendments, citations and definitions that flat retrieval flattens away. We walk the knowledge graph alongside semantic search so that structure survives into the answer.</a:t>
            </a:r>
          </a:p>
        </p:txBody>
      </p:sp>
      <p:sp>
        <p:nvSpPr>
          <p:cNvPr id="31" name="TextBox 30"/>
          <p:cNvSpPr txBox="1"/>
          <p:nvPr/>
        </p:nvSpPr>
        <p:spPr>
          <a:xfrm>
            <a:off x="777240" y="6291072"/>
            <a:ext cx="10271455" cy="219456"/>
          </a:xfrm>
          <a:prstGeom prst="rect">
            <a:avLst/>
          </a:prstGeom>
          <a:noFill/>
        </p:spPr>
        <p:txBody>
          <a:bodyPr wrap="square" anchor="t" lIns="0" rIns="0" tIns="0" bIns="0">
            <a:spAutoFit/>
          </a:bodyPr>
          <a:lstStyle/>
          <a:p>
            <a:pPr algn="l">
              <a:lnSpc>
                <a:spcPct val="100000"/>
              </a:lnSpc>
              <a:spcAft>
                <a:spcPts val="0"/>
              </a:spcAft>
            </a:pPr>
            <a:r>
              <a:rPr sz="950" b="0" i="0">
                <a:solidFill>
                  <a:srgbClr val="666666"/>
                </a:solidFill>
                <a:latin typeface="Calibri"/>
              </a:rPr>
              <a:t>RAISE Lab  ·  HCMUT, VNU-HCM</a:t>
            </a:r>
          </a:p>
        </p:txBody>
      </p:sp>
      <p:sp>
        <p:nvSpPr>
          <p:cNvPr id="32" name="TextBox 31"/>
          <p:cNvSpPr txBox="1"/>
          <p:nvPr/>
        </p:nvSpPr>
        <p:spPr>
          <a:xfrm>
            <a:off x="10865815" y="6291072"/>
            <a:ext cx="548640" cy="219456"/>
          </a:xfrm>
          <a:prstGeom prst="rect">
            <a:avLst/>
          </a:prstGeom>
          <a:noFill/>
        </p:spPr>
        <p:txBody>
          <a:bodyPr wrap="square" anchor="t" lIns="0" rIns="0" tIns="0" bIns="0">
            <a:spAutoFit/>
          </a:bodyPr>
          <a:lstStyle/>
          <a:p>
            <a:pPr algn="r">
              <a:lnSpc>
                <a:spcPct val="100000"/>
              </a:lnSpc>
              <a:spcAft>
                <a:spcPts val="0"/>
              </a:spcAft>
            </a:pPr>
            <a:r>
              <a:rPr sz="950" b="0" i="0">
                <a:solidFill>
                  <a:srgbClr val="666666"/>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74320"/>
          </a:xfrm>
          <a:prstGeom prst="rect">
            <a:avLst/>
          </a:prstGeom>
          <a:noFill/>
        </p:spPr>
        <p:txBody>
          <a:bodyPr wrap="square" anchor="t" lIns="0" rIns="0" tIns="0" bIns="0">
            <a:spAutoFit/>
          </a:bodyPr>
          <a:lstStyle/>
          <a:p>
            <a:pPr algn="l">
              <a:lnSpc>
                <a:spcPct val="100000"/>
              </a:lnSpc>
              <a:spcAft>
                <a:spcPts val="0"/>
              </a:spcAft>
            </a:pPr>
            <a:r>
              <a:rPr sz="1150" b="1" i="0">
                <a:solidFill>
                  <a:srgbClr val="E94560"/>
                </a:solidFill>
                <a:latin typeface="Calibri"/>
              </a:rPr>
              <a:t>PILLAR III</a:t>
            </a:r>
          </a:p>
        </p:txBody>
      </p:sp>
      <p:sp>
        <p:nvSpPr>
          <p:cNvPr id="4" name="TextBox 3"/>
          <p:cNvSpPr txBox="1"/>
          <p:nvPr/>
        </p:nvSpPr>
        <p:spPr>
          <a:xfrm>
            <a:off x="777240" y="786384"/>
            <a:ext cx="10637215" cy="566928"/>
          </a:xfrm>
          <a:prstGeom prst="rect">
            <a:avLst/>
          </a:prstGeom>
          <a:noFill/>
        </p:spPr>
        <p:txBody>
          <a:bodyPr wrap="square" anchor="t" lIns="0" rIns="0" tIns="0" bIns="0">
            <a:spAutoFit/>
          </a:bodyPr>
          <a:lstStyle/>
          <a:p>
            <a:pPr algn="l">
              <a:lnSpc>
                <a:spcPct val="100000"/>
              </a:lnSpc>
              <a:spcAft>
                <a:spcPts val="0"/>
              </a:spcAft>
            </a:pPr>
            <a:r>
              <a:rPr sz="3000" b="0" i="0">
                <a:solidFill>
                  <a:srgbClr val="1A1A2E"/>
                </a:solidFill>
                <a:latin typeface="Georgia"/>
              </a:rPr>
              <a:t>Security</a:t>
            </a:r>
          </a:p>
        </p:txBody>
      </p:sp>
      <p:sp>
        <p:nvSpPr>
          <p:cNvPr id="5" name="Rectangle 4"/>
          <p:cNvSpPr/>
          <p:nvPr/>
        </p:nvSpPr>
        <p:spPr>
          <a:xfrm>
            <a:off x="777240" y="1426464"/>
            <a:ext cx="566928" cy="38100"/>
          </a:xfrm>
          <a:prstGeom prst="rect">
            <a:avLst/>
          </a:prstGeom>
          <a:solidFill>
            <a:srgbClr val="E945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777240" y="1719072"/>
            <a:ext cx="10637215" cy="960120"/>
          </a:xfrm>
          <a:prstGeom prst="rect">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19072"/>
            <a:ext cx="40640" cy="960120"/>
          </a:xfrm>
          <a:prstGeom prst="rect">
            <a:avLst/>
          </a:prstGeom>
          <a:solidFill>
            <a:srgbClr val="E945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14984" y="1865376"/>
            <a:ext cx="384048" cy="310896"/>
          </a:xfrm>
          <a:prstGeom prst="rect">
            <a:avLst/>
          </a:prstGeom>
          <a:noFill/>
        </p:spPr>
        <p:txBody>
          <a:bodyPr wrap="square" anchor="t" lIns="0" rIns="0" tIns="0" bIns="0">
            <a:spAutoFit/>
          </a:bodyPr>
          <a:lstStyle/>
          <a:p>
            <a:pPr algn="l">
              <a:lnSpc>
                <a:spcPct val="100000"/>
              </a:lnSpc>
              <a:spcAft>
                <a:spcPts val="0"/>
              </a:spcAft>
            </a:pPr>
            <a:r>
              <a:rPr sz="1500" b="1" i="0">
                <a:solidFill>
                  <a:srgbClr val="E94560"/>
                </a:solidFill>
                <a:latin typeface="Georgia"/>
              </a:rPr>
              <a:t>01</a:t>
            </a:r>
          </a:p>
        </p:txBody>
      </p:sp>
      <p:sp>
        <p:nvSpPr>
          <p:cNvPr id="9" name="TextBox 8"/>
          <p:cNvSpPr txBox="1"/>
          <p:nvPr/>
        </p:nvSpPr>
        <p:spPr>
          <a:xfrm>
            <a:off x="1490472" y="1856232"/>
            <a:ext cx="9649663" cy="274320"/>
          </a:xfrm>
          <a:prstGeom prst="rect">
            <a:avLst/>
          </a:prstGeom>
          <a:noFill/>
        </p:spPr>
        <p:txBody>
          <a:bodyPr wrap="square" anchor="t" lIns="0" rIns="0" tIns="0" bIns="0">
            <a:spAutoFit/>
          </a:bodyPr>
          <a:lstStyle/>
          <a:p>
            <a:pPr algn="l">
              <a:lnSpc>
                <a:spcPct val="100000"/>
              </a:lnSpc>
              <a:spcAft>
                <a:spcPts val="0"/>
              </a:spcAft>
            </a:pPr>
            <a:r>
              <a:rPr sz="1500" b="1" i="0">
                <a:solidFill>
                  <a:srgbClr val="1A1A2E"/>
                </a:solidFill>
                <a:latin typeface="Calibri"/>
              </a:rPr>
              <a:t>Privacy in AI Agents</a:t>
            </a:r>
          </a:p>
        </p:txBody>
      </p:sp>
      <p:sp>
        <p:nvSpPr>
          <p:cNvPr id="10" name="TextBox 9"/>
          <p:cNvSpPr txBox="1"/>
          <p:nvPr/>
        </p:nvSpPr>
        <p:spPr>
          <a:xfrm>
            <a:off x="1490472" y="2122932"/>
            <a:ext cx="9649663" cy="502920"/>
          </a:xfrm>
          <a:prstGeom prst="rect">
            <a:avLst/>
          </a:prstGeom>
          <a:noFill/>
        </p:spPr>
        <p:txBody>
          <a:bodyPr wrap="square" anchor="t" lIns="0" rIns="0" tIns="0" bIns="0">
            <a:spAutoFit/>
          </a:bodyPr>
          <a:lstStyle/>
          <a:p>
            <a:pPr algn="l">
              <a:lnSpc>
                <a:spcPct val="112000"/>
              </a:lnSpc>
              <a:spcAft>
                <a:spcPts val="0"/>
              </a:spcAft>
            </a:pPr>
            <a:r>
              <a:rPr sz="1150" b="0" i="0">
                <a:solidFill>
                  <a:srgbClr val="666666"/>
                </a:solidFill>
                <a:latin typeface="Calibri"/>
              </a:rPr>
              <a:t>Persistent memory is the least audited part of an agent deployment. What one user's session writes, another user's session can read back. We built a benchmark and an audit suite so this gets measured, not argued about.</a:t>
            </a:r>
          </a:p>
        </p:txBody>
      </p:sp>
      <p:sp>
        <p:nvSpPr>
          <p:cNvPr id="11" name="Rectangle 10"/>
          <p:cNvSpPr/>
          <p:nvPr/>
        </p:nvSpPr>
        <p:spPr>
          <a:xfrm>
            <a:off x="777240" y="2770632"/>
            <a:ext cx="10637215" cy="960120"/>
          </a:xfrm>
          <a:prstGeom prst="rect">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2770632"/>
            <a:ext cx="40640" cy="960120"/>
          </a:xfrm>
          <a:prstGeom prst="rect">
            <a:avLst/>
          </a:prstGeom>
          <a:solidFill>
            <a:srgbClr val="F39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14984" y="2916936"/>
            <a:ext cx="384048" cy="310896"/>
          </a:xfrm>
          <a:prstGeom prst="rect">
            <a:avLst/>
          </a:prstGeom>
          <a:noFill/>
        </p:spPr>
        <p:txBody>
          <a:bodyPr wrap="square" anchor="t" lIns="0" rIns="0" tIns="0" bIns="0">
            <a:spAutoFit/>
          </a:bodyPr>
          <a:lstStyle/>
          <a:p>
            <a:pPr algn="l">
              <a:lnSpc>
                <a:spcPct val="100000"/>
              </a:lnSpc>
              <a:spcAft>
                <a:spcPts val="0"/>
              </a:spcAft>
            </a:pPr>
            <a:r>
              <a:rPr sz="1500" b="1" i="0">
                <a:solidFill>
                  <a:srgbClr val="E94560"/>
                </a:solidFill>
                <a:latin typeface="Georgia"/>
              </a:rPr>
              <a:t>02</a:t>
            </a:r>
          </a:p>
        </p:txBody>
      </p:sp>
      <p:sp>
        <p:nvSpPr>
          <p:cNvPr id="14" name="TextBox 13"/>
          <p:cNvSpPr txBox="1"/>
          <p:nvPr/>
        </p:nvSpPr>
        <p:spPr>
          <a:xfrm>
            <a:off x="1490472" y="2907792"/>
            <a:ext cx="9649663" cy="274320"/>
          </a:xfrm>
          <a:prstGeom prst="rect">
            <a:avLst/>
          </a:prstGeom>
          <a:noFill/>
        </p:spPr>
        <p:txBody>
          <a:bodyPr wrap="square" anchor="t" lIns="0" rIns="0" tIns="0" bIns="0">
            <a:spAutoFit/>
          </a:bodyPr>
          <a:lstStyle/>
          <a:p>
            <a:pPr algn="l">
              <a:lnSpc>
                <a:spcPct val="100000"/>
              </a:lnSpc>
              <a:spcAft>
                <a:spcPts val="0"/>
              </a:spcAft>
            </a:pPr>
            <a:r>
              <a:rPr sz="1500" b="1" i="0">
                <a:solidFill>
                  <a:srgbClr val="1A1A2E"/>
                </a:solidFill>
                <a:latin typeface="Calibri"/>
              </a:rPr>
              <a:t>Privacy-Preserving Recommendation</a:t>
            </a:r>
          </a:p>
        </p:txBody>
      </p:sp>
      <p:sp>
        <p:nvSpPr>
          <p:cNvPr id="15" name="TextBox 14"/>
          <p:cNvSpPr txBox="1"/>
          <p:nvPr/>
        </p:nvSpPr>
        <p:spPr>
          <a:xfrm>
            <a:off x="1490472" y="3174492"/>
            <a:ext cx="9649663" cy="502920"/>
          </a:xfrm>
          <a:prstGeom prst="rect">
            <a:avLst/>
          </a:prstGeom>
          <a:noFill/>
        </p:spPr>
        <p:txBody>
          <a:bodyPr wrap="square" anchor="t" lIns="0" rIns="0" tIns="0" bIns="0">
            <a:spAutoFit/>
          </a:bodyPr>
          <a:lstStyle/>
          <a:p>
            <a:pPr algn="l">
              <a:lnSpc>
                <a:spcPct val="112000"/>
              </a:lnSpc>
              <a:spcAft>
                <a:spcPts val="0"/>
              </a:spcAft>
            </a:pPr>
            <a:r>
              <a:rPr sz="1150" b="0" i="0">
                <a:solidFill>
                  <a:srgbClr val="666666"/>
                </a:solidFill>
                <a:latin typeface="Calibri"/>
              </a:rPr>
              <a:t>A deployed recommender is asked for differential privacy, for calibration inside every group, and for the right to stay silent. Optimise these one at a time and each eats the others. We treat them as one constrained problem.</a:t>
            </a:r>
          </a:p>
        </p:txBody>
      </p:sp>
      <p:sp>
        <p:nvSpPr>
          <p:cNvPr id="16" name="Rectangle 15"/>
          <p:cNvSpPr/>
          <p:nvPr/>
        </p:nvSpPr>
        <p:spPr>
          <a:xfrm>
            <a:off x="777240" y="3822192"/>
            <a:ext cx="10637215" cy="960120"/>
          </a:xfrm>
          <a:prstGeom prst="rect">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822192"/>
            <a:ext cx="40640" cy="960120"/>
          </a:xfrm>
          <a:prstGeom prst="rect">
            <a:avLst/>
          </a:prstGeom>
          <a:solidFill>
            <a:srgbClr val="E945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14984" y="3968496"/>
            <a:ext cx="384048" cy="310896"/>
          </a:xfrm>
          <a:prstGeom prst="rect">
            <a:avLst/>
          </a:prstGeom>
          <a:noFill/>
        </p:spPr>
        <p:txBody>
          <a:bodyPr wrap="square" anchor="t" lIns="0" rIns="0" tIns="0" bIns="0">
            <a:spAutoFit/>
          </a:bodyPr>
          <a:lstStyle/>
          <a:p>
            <a:pPr algn="l">
              <a:lnSpc>
                <a:spcPct val="100000"/>
              </a:lnSpc>
              <a:spcAft>
                <a:spcPts val="0"/>
              </a:spcAft>
            </a:pPr>
            <a:r>
              <a:rPr sz="1500" b="1" i="0">
                <a:solidFill>
                  <a:srgbClr val="E94560"/>
                </a:solidFill>
                <a:latin typeface="Georgia"/>
              </a:rPr>
              <a:t>03</a:t>
            </a:r>
          </a:p>
        </p:txBody>
      </p:sp>
      <p:sp>
        <p:nvSpPr>
          <p:cNvPr id="19" name="TextBox 18"/>
          <p:cNvSpPr txBox="1"/>
          <p:nvPr/>
        </p:nvSpPr>
        <p:spPr>
          <a:xfrm>
            <a:off x="1490472" y="3959352"/>
            <a:ext cx="9649663" cy="274320"/>
          </a:xfrm>
          <a:prstGeom prst="rect">
            <a:avLst/>
          </a:prstGeom>
          <a:noFill/>
        </p:spPr>
        <p:txBody>
          <a:bodyPr wrap="square" anchor="t" lIns="0" rIns="0" tIns="0" bIns="0">
            <a:spAutoFit/>
          </a:bodyPr>
          <a:lstStyle/>
          <a:p>
            <a:pPr algn="l">
              <a:lnSpc>
                <a:spcPct val="100000"/>
              </a:lnSpc>
              <a:spcAft>
                <a:spcPts val="0"/>
              </a:spcAft>
            </a:pPr>
            <a:r>
              <a:rPr sz="1500" b="1" i="0">
                <a:solidFill>
                  <a:srgbClr val="1A1A2E"/>
                </a:solidFill>
                <a:latin typeface="Calibri"/>
              </a:rPr>
              <a:t>Vulnerability Detection</a:t>
            </a:r>
          </a:p>
        </p:txBody>
      </p:sp>
      <p:sp>
        <p:nvSpPr>
          <p:cNvPr id="20" name="TextBox 19"/>
          <p:cNvSpPr txBox="1"/>
          <p:nvPr/>
        </p:nvSpPr>
        <p:spPr>
          <a:xfrm>
            <a:off x="1490472" y="4226052"/>
            <a:ext cx="9649663" cy="502920"/>
          </a:xfrm>
          <a:prstGeom prst="rect">
            <a:avLst/>
          </a:prstGeom>
          <a:noFill/>
        </p:spPr>
        <p:txBody>
          <a:bodyPr wrap="square" anchor="t" lIns="0" rIns="0" tIns="0" bIns="0">
            <a:spAutoFit/>
          </a:bodyPr>
          <a:lstStyle/>
          <a:p>
            <a:pPr algn="l">
              <a:lnSpc>
                <a:spcPct val="112000"/>
              </a:lnSpc>
              <a:spcAft>
                <a:spcPts val="0"/>
              </a:spcAft>
            </a:pPr>
            <a:r>
              <a:rPr sz="1150" b="0" i="0">
                <a:solidFill>
                  <a:srgbClr val="666666"/>
                </a:solidFill>
                <a:latin typeface="Calibri"/>
              </a:rPr>
              <a:t>Every hypothesis is checked against what the repository actually shows, then marked Verified, Rejected or Inconclusive. We would rather report ten real bugs than a hundred maybes, so we tune for false discovery, not recall.</a:t>
            </a:r>
          </a:p>
        </p:txBody>
      </p:sp>
      <p:sp>
        <p:nvSpPr>
          <p:cNvPr id="21" name="Rectangle 20"/>
          <p:cNvSpPr/>
          <p:nvPr/>
        </p:nvSpPr>
        <p:spPr>
          <a:xfrm>
            <a:off x="777240" y="4873752"/>
            <a:ext cx="10637215" cy="960120"/>
          </a:xfrm>
          <a:prstGeom prst="rect">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77240" y="4873752"/>
            <a:ext cx="40640" cy="960120"/>
          </a:xfrm>
          <a:prstGeom prst="rect">
            <a:avLst/>
          </a:prstGeom>
          <a:solidFill>
            <a:srgbClr val="F39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014984" y="5020056"/>
            <a:ext cx="384048" cy="310896"/>
          </a:xfrm>
          <a:prstGeom prst="rect">
            <a:avLst/>
          </a:prstGeom>
          <a:noFill/>
        </p:spPr>
        <p:txBody>
          <a:bodyPr wrap="square" anchor="t" lIns="0" rIns="0" tIns="0" bIns="0">
            <a:spAutoFit/>
          </a:bodyPr>
          <a:lstStyle/>
          <a:p>
            <a:pPr algn="l">
              <a:lnSpc>
                <a:spcPct val="100000"/>
              </a:lnSpc>
              <a:spcAft>
                <a:spcPts val="0"/>
              </a:spcAft>
            </a:pPr>
            <a:r>
              <a:rPr sz="1500" b="1" i="0">
                <a:solidFill>
                  <a:srgbClr val="E94560"/>
                </a:solidFill>
                <a:latin typeface="Georgia"/>
              </a:rPr>
              <a:t>04</a:t>
            </a:r>
          </a:p>
        </p:txBody>
      </p:sp>
      <p:sp>
        <p:nvSpPr>
          <p:cNvPr id="24" name="TextBox 23"/>
          <p:cNvSpPr txBox="1"/>
          <p:nvPr/>
        </p:nvSpPr>
        <p:spPr>
          <a:xfrm>
            <a:off x="1490472" y="5010912"/>
            <a:ext cx="9649663" cy="274320"/>
          </a:xfrm>
          <a:prstGeom prst="rect">
            <a:avLst/>
          </a:prstGeom>
          <a:noFill/>
        </p:spPr>
        <p:txBody>
          <a:bodyPr wrap="square" anchor="t" lIns="0" rIns="0" tIns="0" bIns="0">
            <a:spAutoFit/>
          </a:bodyPr>
          <a:lstStyle/>
          <a:p>
            <a:pPr algn="l">
              <a:lnSpc>
                <a:spcPct val="100000"/>
              </a:lnSpc>
              <a:spcAft>
                <a:spcPts val="0"/>
              </a:spcAft>
            </a:pPr>
            <a:r>
              <a:rPr sz="1500" b="1" i="0">
                <a:solidFill>
                  <a:srgbClr val="1A1A2E"/>
                </a:solidFill>
                <a:latin typeface="Calibri"/>
              </a:rPr>
              <a:t>Trustworthy AI-Generated Code</a:t>
            </a:r>
          </a:p>
        </p:txBody>
      </p:sp>
      <p:sp>
        <p:nvSpPr>
          <p:cNvPr id="25" name="TextBox 24"/>
          <p:cNvSpPr txBox="1"/>
          <p:nvPr/>
        </p:nvSpPr>
        <p:spPr>
          <a:xfrm>
            <a:off x="1490472" y="5277612"/>
            <a:ext cx="9649663" cy="502920"/>
          </a:xfrm>
          <a:prstGeom prst="rect">
            <a:avLst/>
          </a:prstGeom>
          <a:noFill/>
        </p:spPr>
        <p:txBody>
          <a:bodyPr wrap="square" anchor="t" lIns="0" rIns="0" tIns="0" bIns="0">
            <a:spAutoFit/>
          </a:bodyPr>
          <a:lstStyle/>
          <a:p>
            <a:pPr algn="l">
              <a:lnSpc>
                <a:spcPct val="112000"/>
              </a:lnSpc>
              <a:spcAft>
                <a:spcPts val="0"/>
              </a:spcAft>
            </a:pPr>
            <a:r>
              <a:rPr sz="1150" b="0" i="0">
                <a:solidFill>
                  <a:srgbClr val="666666"/>
                </a:solidFill>
                <a:latin typeface="Calibri"/>
              </a:rPr>
              <a:t>Translated and repaired code has no author to ask. We put it through static analysis and generated tests, so accepting it rests on something firmer than the model's own say-so.</a:t>
            </a:r>
          </a:p>
        </p:txBody>
      </p:sp>
      <p:sp>
        <p:nvSpPr>
          <p:cNvPr id="26" name="TextBox 25"/>
          <p:cNvSpPr txBox="1"/>
          <p:nvPr/>
        </p:nvSpPr>
        <p:spPr>
          <a:xfrm>
            <a:off x="777240" y="6291072"/>
            <a:ext cx="10271455" cy="219456"/>
          </a:xfrm>
          <a:prstGeom prst="rect">
            <a:avLst/>
          </a:prstGeom>
          <a:noFill/>
        </p:spPr>
        <p:txBody>
          <a:bodyPr wrap="square" anchor="t" lIns="0" rIns="0" tIns="0" bIns="0">
            <a:spAutoFit/>
          </a:bodyPr>
          <a:lstStyle/>
          <a:p>
            <a:pPr algn="l">
              <a:lnSpc>
                <a:spcPct val="100000"/>
              </a:lnSpc>
              <a:spcAft>
                <a:spcPts val="0"/>
              </a:spcAft>
            </a:pPr>
            <a:r>
              <a:rPr sz="950" b="0" i="0">
                <a:solidFill>
                  <a:srgbClr val="666666"/>
                </a:solidFill>
                <a:latin typeface="Calibri"/>
              </a:rPr>
              <a:t>RAISE Lab  ·  HCMUT, VNU-HCM</a:t>
            </a:r>
          </a:p>
        </p:txBody>
      </p:sp>
      <p:sp>
        <p:nvSpPr>
          <p:cNvPr id="27" name="TextBox 26"/>
          <p:cNvSpPr txBox="1"/>
          <p:nvPr/>
        </p:nvSpPr>
        <p:spPr>
          <a:xfrm>
            <a:off x="10865815" y="6291072"/>
            <a:ext cx="548640" cy="219456"/>
          </a:xfrm>
          <a:prstGeom prst="rect">
            <a:avLst/>
          </a:prstGeom>
          <a:noFill/>
        </p:spPr>
        <p:txBody>
          <a:bodyPr wrap="square" anchor="t" lIns="0" rIns="0" tIns="0" bIns="0">
            <a:spAutoFit/>
          </a:bodyPr>
          <a:lstStyle/>
          <a:p>
            <a:pPr algn="r">
              <a:lnSpc>
                <a:spcPct val="100000"/>
              </a:lnSpc>
              <a:spcAft>
                <a:spcPts val="0"/>
              </a:spcAft>
            </a:pPr>
            <a:r>
              <a:rPr sz="950" b="0" i="0">
                <a:solidFill>
                  <a:srgbClr val="666666"/>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74320"/>
          </a:xfrm>
          <a:prstGeom prst="rect">
            <a:avLst/>
          </a:prstGeom>
          <a:noFill/>
        </p:spPr>
        <p:txBody>
          <a:bodyPr wrap="square" anchor="t" lIns="0" rIns="0" tIns="0" bIns="0">
            <a:spAutoFit/>
          </a:bodyPr>
          <a:lstStyle/>
          <a:p>
            <a:pPr algn="l">
              <a:lnSpc>
                <a:spcPct val="100000"/>
              </a:lnSpc>
              <a:spcAft>
                <a:spcPts val="0"/>
              </a:spcAft>
            </a:pPr>
            <a:r>
              <a:rPr sz="1150" b="1" i="0">
                <a:solidFill>
                  <a:srgbClr val="E94560"/>
                </a:solidFill>
                <a:latin typeface="Calibri"/>
              </a:rPr>
              <a:t>REPRESENTATIVE WORK</a:t>
            </a:r>
          </a:p>
        </p:txBody>
      </p:sp>
      <p:sp>
        <p:nvSpPr>
          <p:cNvPr id="4" name="TextBox 3"/>
          <p:cNvSpPr txBox="1"/>
          <p:nvPr/>
        </p:nvSpPr>
        <p:spPr>
          <a:xfrm>
            <a:off x="777240" y="786384"/>
            <a:ext cx="10637215" cy="566928"/>
          </a:xfrm>
          <a:prstGeom prst="rect">
            <a:avLst/>
          </a:prstGeom>
          <a:noFill/>
        </p:spPr>
        <p:txBody>
          <a:bodyPr wrap="square" anchor="t" lIns="0" rIns="0" tIns="0" bIns="0">
            <a:spAutoFit/>
          </a:bodyPr>
          <a:lstStyle/>
          <a:p>
            <a:pPr algn="l">
              <a:lnSpc>
                <a:spcPct val="100000"/>
              </a:lnSpc>
              <a:spcAft>
                <a:spcPts val="0"/>
              </a:spcAft>
            </a:pPr>
            <a:r>
              <a:rPr sz="3000" b="0" i="0">
                <a:solidFill>
                  <a:srgbClr val="1A1A2E"/>
                </a:solidFill>
                <a:latin typeface="Georgia"/>
              </a:rPr>
              <a:t>Four selected projects</a:t>
            </a:r>
          </a:p>
        </p:txBody>
      </p:sp>
      <p:sp>
        <p:nvSpPr>
          <p:cNvPr id="5" name="Rectangle 4"/>
          <p:cNvSpPr/>
          <p:nvPr/>
        </p:nvSpPr>
        <p:spPr>
          <a:xfrm>
            <a:off x="777240" y="1426464"/>
            <a:ext cx="566928" cy="38100"/>
          </a:xfrm>
          <a:prstGeom prst="rect">
            <a:avLst/>
          </a:prstGeom>
          <a:solidFill>
            <a:srgbClr val="E945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777240" y="1847088"/>
            <a:ext cx="5181447" cy="1874519"/>
          </a:xfrm>
          <a:prstGeom prst="rect">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847088"/>
            <a:ext cx="44450" cy="1874519"/>
          </a:xfrm>
          <a:prstGeom prst="rect">
            <a:avLst/>
          </a:prstGeom>
          <a:solidFill>
            <a:srgbClr val="E945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88136" y="2084832"/>
            <a:ext cx="4541367" cy="365760"/>
          </a:xfrm>
          <a:prstGeom prst="rect">
            <a:avLst/>
          </a:prstGeom>
          <a:noFill/>
        </p:spPr>
        <p:txBody>
          <a:bodyPr wrap="square" anchor="t" lIns="0" rIns="0" tIns="0" bIns="0">
            <a:spAutoFit/>
          </a:bodyPr>
          <a:lstStyle/>
          <a:p>
            <a:pPr algn="l">
              <a:lnSpc>
                <a:spcPct val="100000"/>
              </a:lnSpc>
              <a:spcAft>
                <a:spcPts val="0"/>
              </a:spcAft>
            </a:pPr>
            <a:r>
              <a:rPr sz="2000" b="0" i="0">
                <a:solidFill>
                  <a:srgbClr val="1A1A2E"/>
                </a:solidFill>
                <a:latin typeface="Georgia"/>
              </a:rPr>
              <a:t>TraceToChain</a:t>
            </a:r>
          </a:p>
        </p:txBody>
      </p:sp>
      <p:sp>
        <p:nvSpPr>
          <p:cNvPr id="9" name="TextBox 8"/>
          <p:cNvSpPr txBox="1"/>
          <p:nvPr/>
        </p:nvSpPr>
        <p:spPr>
          <a:xfrm>
            <a:off x="1088136" y="2505456"/>
            <a:ext cx="4541367" cy="237744"/>
          </a:xfrm>
          <a:prstGeom prst="rect">
            <a:avLst/>
          </a:prstGeom>
          <a:noFill/>
        </p:spPr>
        <p:txBody>
          <a:bodyPr wrap="square" anchor="t" lIns="0" rIns="0" tIns="0" bIns="0">
            <a:spAutoFit/>
          </a:bodyPr>
          <a:lstStyle/>
          <a:p>
            <a:pPr algn="l">
              <a:lnSpc>
                <a:spcPct val="100000"/>
              </a:lnSpc>
              <a:spcAft>
                <a:spcPts val="0"/>
              </a:spcAft>
            </a:pPr>
            <a:r>
              <a:rPr sz="1000" b="1" i="0">
                <a:solidFill>
                  <a:srgbClr val="E94560"/>
                </a:solidFill>
                <a:latin typeface="Calibri"/>
              </a:rPr>
              <a:t>ISSRE 2026</a:t>
            </a:r>
          </a:p>
        </p:txBody>
      </p:sp>
      <p:sp>
        <p:nvSpPr>
          <p:cNvPr id="10" name="TextBox 9"/>
          <p:cNvSpPr txBox="1"/>
          <p:nvPr/>
        </p:nvSpPr>
        <p:spPr>
          <a:xfrm>
            <a:off x="1088136" y="2816352"/>
            <a:ext cx="4541367" cy="822960"/>
          </a:xfrm>
          <a:prstGeom prst="rect">
            <a:avLst/>
          </a:prstGeom>
          <a:noFill/>
        </p:spPr>
        <p:txBody>
          <a:bodyPr wrap="square" anchor="t" lIns="0" rIns="0" tIns="0" bIns="0">
            <a:spAutoFit/>
          </a:bodyPr>
          <a:lstStyle/>
          <a:p>
            <a:pPr algn="l">
              <a:lnSpc>
                <a:spcPct val="122000"/>
              </a:lnSpc>
              <a:spcAft>
                <a:spcPts val="0"/>
              </a:spcAft>
            </a:pPr>
            <a:r>
              <a:rPr sz="1200" b="0" i="0">
                <a:solidFill>
                  <a:srgbClr val="666666"/>
                </a:solidFill>
                <a:latin typeface="Calibri"/>
              </a:rPr>
              <a:t>Turns agent execution traces into an absorbing Markov chain, then refuses to report any number the statistics do not support. Tested on 2,459 real agent episodes.</a:t>
            </a:r>
          </a:p>
        </p:txBody>
      </p:sp>
      <p:sp>
        <p:nvSpPr>
          <p:cNvPr id="11" name="Rectangle 10"/>
          <p:cNvSpPr/>
          <p:nvPr/>
        </p:nvSpPr>
        <p:spPr>
          <a:xfrm>
            <a:off x="6233007" y="1847088"/>
            <a:ext cx="5181447" cy="1874519"/>
          </a:xfrm>
          <a:prstGeom prst="rect">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3007" y="1847088"/>
            <a:ext cx="44450" cy="1874519"/>
          </a:xfrm>
          <a:prstGeom prst="rect">
            <a:avLst/>
          </a:prstGeom>
          <a:solidFill>
            <a:srgbClr val="F39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543903" y="2084832"/>
            <a:ext cx="4541367" cy="365760"/>
          </a:xfrm>
          <a:prstGeom prst="rect">
            <a:avLst/>
          </a:prstGeom>
          <a:noFill/>
        </p:spPr>
        <p:txBody>
          <a:bodyPr wrap="square" anchor="t" lIns="0" rIns="0" tIns="0" bIns="0">
            <a:spAutoFit/>
          </a:bodyPr>
          <a:lstStyle/>
          <a:p>
            <a:pPr algn="l">
              <a:lnSpc>
                <a:spcPct val="100000"/>
              </a:lnSpc>
              <a:spcAft>
                <a:spcPts val="0"/>
              </a:spcAft>
            </a:pPr>
            <a:r>
              <a:rPr sz="2000" b="0" i="0">
                <a:solidFill>
                  <a:srgbClr val="1A1A2E"/>
                </a:solidFill>
                <a:latin typeface="Georgia"/>
              </a:rPr>
              <a:t>GraphLedger</a:t>
            </a:r>
          </a:p>
        </p:txBody>
      </p:sp>
      <p:sp>
        <p:nvSpPr>
          <p:cNvPr id="14" name="TextBox 13"/>
          <p:cNvSpPr txBox="1"/>
          <p:nvPr/>
        </p:nvSpPr>
        <p:spPr>
          <a:xfrm>
            <a:off x="6543903" y="2505456"/>
            <a:ext cx="4541367" cy="237744"/>
          </a:xfrm>
          <a:prstGeom prst="rect">
            <a:avLst/>
          </a:prstGeom>
          <a:noFill/>
        </p:spPr>
        <p:txBody>
          <a:bodyPr wrap="square" anchor="t" lIns="0" rIns="0" tIns="0" bIns="0">
            <a:spAutoFit/>
          </a:bodyPr>
          <a:lstStyle/>
          <a:p>
            <a:pPr algn="l">
              <a:lnSpc>
                <a:spcPct val="100000"/>
              </a:lnSpc>
              <a:spcAft>
                <a:spcPts val="0"/>
              </a:spcAft>
            </a:pPr>
            <a:r>
              <a:rPr sz="1000" b="1" i="0">
                <a:solidFill>
                  <a:srgbClr val="F39C6B"/>
                </a:solidFill>
                <a:latin typeface="Calibri"/>
              </a:rPr>
              <a:t>ASE 2026</a:t>
            </a:r>
          </a:p>
        </p:txBody>
      </p:sp>
      <p:sp>
        <p:nvSpPr>
          <p:cNvPr id="15" name="TextBox 14"/>
          <p:cNvSpPr txBox="1"/>
          <p:nvPr/>
        </p:nvSpPr>
        <p:spPr>
          <a:xfrm>
            <a:off x="6543903" y="2816352"/>
            <a:ext cx="4541367" cy="822960"/>
          </a:xfrm>
          <a:prstGeom prst="rect">
            <a:avLst/>
          </a:prstGeom>
          <a:noFill/>
        </p:spPr>
        <p:txBody>
          <a:bodyPr wrap="square" anchor="t" lIns="0" rIns="0" tIns="0" bIns="0">
            <a:spAutoFit/>
          </a:bodyPr>
          <a:lstStyle/>
          <a:p>
            <a:pPr algn="l">
              <a:lnSpc>
                <a:spcPct val="122000"/>
              </a:lnSpc>
              <a:spcAft>
                <a:spcPts val="0"/>
              </a:spcAft>
            </a:pPr>
            <a:r>
              <a:rPr sz="1200" b="0" i="0">
                <a:solidFill>
                  <a:srgbClr val="666666"/>
                </a:solidFill>
                <a:latin typeface="Calibri"/>
              </a:rPr>
              <a:t>Finds vulnerabilities across a whole repository and makes every finding show its work against real dependency and taint structure.</a:t>
            </a:r>
          </a:p>
        </p:txBody>
      </p:sp>
      <p:sp>
        <p:nvSpPr>
          <p:cNvPr id="16" name="Rectangle 15"/>
          <p:cNvSpPr/>
          <p:nvPr/>
        </p:nvSpPr>
        <p:spPr>
          <a:xfrm>
            <a:off x="777240" y="3950208"/>
            <a:ext cx="5181447" cy="1874519"/>
          </a:xfrm>
          <a:prstGeom prst="rect">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950208"/>
            <a:ext cx="44450" cy="1874519"/>
          </a:xfrm>
          <a:prstGeom prst="rect">
            <a:avLst/>
          </a:prstGeom>
          <a:solidFill>
            <a:srgbClr val="6C9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88136" y="4187952"/>
            <a:ext cx="4541367" cy="365760"/>
          </a:xfrm>
          <a:prstGeom prst="rect">
            <a:avLst/>
          </a:prstGeom>
          <a:noFill/>
        </p:spPr>
        <p:txBody>
          <a:bodyPr wrap="square" anchor="t" lIns="0" rIns="0" tIns="0" bIns="0">
            <a:spAutoFit/>
          </a:bodyPr>
          <a:lstStyle/>
          <a:p>
            <a:pPr algn="l">
              <a:lnSpc>
                <a:spcPct val="100000"/>
              </a:lnSpc>
              <a:spcAft>
                <a:spcPts val="0"/>
              </a:spcAft>
            </a:pPr>
            <a:r>
              <a:rPr sz="2000" b="0" i="0">
                <a:solidFill>
                  <a:srgbClr val="1A1A2E"/>
                </a:solidFill>
                <a:latin typeface="Georgia"/>
              </a:rPr>
              <a:t>GraphMemShield</a:t>
            </a:r>
          </a:p>
        </p:txBody>
      </p:sp>
      <p:sp>
        <p:nvSpPr>
          <p:cNvPr id="19" name="TextBox 18"/>
          <p:cNvSpPr txBox="1"/>
          <p:nvPr/>
        </p:nvSpPr>
        <p:spPr>
          <a:xfrm>
            <a:off x="1088136" y="4608576"/>
            <a:ext cx="4541367" cy="237744"/>
          </a:xfrm>
          <a:prstGeom prst="rect">
            <a:avLst/>
          </a:prstGeom>
          <a:noFill/>
        </p:spPr>
        <p:txBody>
          <a:bodyPr wrap="square" anchor="t" lIns="0" rIns="0" tIns="0" bIns="0">
            <a:spAutoFit/>
          </a:bodyPr>
          <a:lstStyle/>
          <a:p>
            <a:pPr algn="l">
              <a:lnSpc>
                <a:spcPct val="100000"/>
              </a:lnSpc>
              <a:spcAft>
                <a:spcPts val="0"/>
              </a:spcAft>
            </a:pPr>
            <a:r>
              <a:rPr sz="1000" b="1" i="0">
                <a:solidFill>
                  <a:srgbClr val="6C9BD1"/>
                </a:solidFill>
                <a:latin typeface="Calibri"/>
              </a:rPr>
              <a:t>CIKM 2026</a:t>
            </a:r>
          </a:p>
        </p:txBody>
      </p:sp>
      <p:sp>
        <p:nvSpPr>
          <p:cNvPr id="20" name="TextBox 19"/>
          <p:cNvSpPr txBox="1"/>
          <p:nvPr/>
        </p:nvSpPr>
        <p:spPr>
          <a:xfrm>
            <a:off x="1088136" y="4919472"/>
            <a:ext cx="4541367" cy="822960"/>
          </a:xfrm>
          <a:prstGeom prst="rect">
            <a:avLst/>
          </a:prstGeom>
          <a:noFill/>
        </p:spPr>
        <p:txBody>
          <a:bodyPr wrap="square" anchor="t" lIns="0" rIns="0" tIns="0" bIns="0">
            <a:spAutoFit/>
          </a:bodyPr>
          <a:lstStyle/>
          <a:p>
            <a:pPr algn="l">
              <a:lnSpc>
                <a:spcPct val="122000"/>
              </a:lnSpc>
              <a:spcAft>
                <a:spcPts val="0"/>
              </a:spcAft>
            </a:pPr>
            <a:r>
              <a:rPr sz="1200" b="0" i="0">
                <a:solidFill>
                  <a:srgbClr val="666666"/>
                </a:solidFill>
                <a:latin typeface="Calibri"/>
              </a:rPr>
              <a:t>Measures what leaks between users in an agent's shared memory. Privacy stops being an argument and becomes a number.</a:t>
            </a:r>
          </a:p>
        </p:txBody>
      </p:sp>
      <p:sp>
        <p:nvSpPr>
          <p:cNvPr id="21" name="Rectangle 20"/>
          <p:cNvSpPr/>
          <p:nvPr/>
        </p:nvSpPr>
        <p:spPr>
          <a:xfrm>
            <a:off x="6233007" y="3950208"/>
            <a:ext cx="5181447" cy="1874519"/>
          </a:xfrm>
          <a:prstGeom prst="rect">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3007" y="3950208"/>
            <a:ext cx="44450" cy="1874519"/>
          </a:xfrm>
          <a:prstGeom prst="rect">
            <a:avLst/>
          </a:prstGeom>
          <a:solidFill>
            <a:srgbClr val="7EB0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543903" y="4187952"/>
            <a:ext cx="4541367" cy="365760"/>
          </a:xfrm>
          <a:prstGeom prst="rect">
            <a:avLst/>
          </a:prstGeom>
          <a:noFill/>
        </p:spPr>
        <p:txBody>
          <a:bodyPr wrap="square" anchor="t" lIns="0" rIns="0" tIns="0" bIns="0">
            <a:spAutoFit/>
          </a:bodyPr>
          <a:lstStyle/>
          <a:p>
            <a:pPr algn="l">
              <a:lnSpc>
                <a:spcPct val="100000"/>
              </a:lnSpc>
              <a:spcAft>
                <a:spcPts val="0"/>
              </a:spcAft>
            </a:pPr>
            <a:r>
              <a:rPr sz="2000" b="0" i="0">
                <a:solidFill>
                  <a:srgbClr val="1A1A2E"/>
                </a:solidFill>
                <a:latin typeface="Georgia"/>
              </a:rPr>
              <a:t>LTM-RAG</a:t>
            </a:r>
          </a:p>
        </p:txBody>
      </p:sp>
      <p:sp>
        <p:nvSpPr>
          <p:cNvPr id="24" name="TextBox 23"/>
          <p:cNvSpPr txBox="1"/>
          <p:nvPr/>
        </p:nvSpPr>
        <p:spPr>
          <a:xfrm>
            <a:off x="6543903" y="4608576"/>
            <a:ext cx="4541367" cy="237744"/>
          </a:xfrm>
          <a:prstGeom prst="rect">
            <a:avLst/>
          </a:prstGeom>
          <a:noFill/>
        </p:spPr>
        <p:txBody>
          <a:bodyPr wrap="square" anchor="t" lIns="0" rIns="0" tIns="0" bIns="0">
            <a:spAutoFit/>
          </a:bodyPr>
          <a:lstStyle/>
          <a:p>
            <a:pPr algn="l">
              <a:lnSpc>
                <a:spcPct val="100000"/>
              </a:lnSpc>
              <a:spcAft>
                <a:spcPts val="0"/>
              </a:spcAft>
            </a:pPr>
            <a:r>
              <a:rPr sz="1000" b="1" i="0">
                <a:solidFill>
                  <a:srgbClr val="7EB09B"/>
                </a:solidFill>
                <a:latin typeface="Calibri"/>
              </a:rPr>
              <a:t>ICDM 2026</a:t>
            </a:r>
          </a:p>
        </p:txBody>
      </p:sp>
      <p:sp>
        <p:nvSpPr>
          <p:cNvPr id="25" name="TextBox 24"/>
          <p:cNvSpPr txBox="1"/>
          <p:nvPr/>
        </p:nvSpPr>
        <p:spPr>
          <a:xfrm>
            <a:off x="6543903" y="4919472"/>
            <a:ext cx="4541367" cy="822960"/>
          </a:xfrm>
          <a:prstGeom prst="rect">
            <a:avLst/>
          </a:prstGeom>
          <a:noFill/>
        </p:spPr>
        <p:txBody>
          <a:bodyPr wrap="square" anchor="t" lIns="0" rIns="0" tIns="0" bIns="0">
            <a:spAutoFit/>
          </a:bodyPr>
          <a:lstStyle/>
          <a:p>
            <a:pPr algn="l">
              <a:lnSpc>
                <a:spcPct val="122000"/>
              </a:lnSpc>
              <a:spcAft>
                <a:spcPts val="0"/>
              </a:spcAft>
            </a:pPr>
            <a:r>
              <a:rPr sz="1200" b="0" i="0">
                <a:solidFill>
                  <a:srgbClr val="666666"/>
                </a:solidFill>
                <a:latin typeface="Calibri"/>
              </a:rPr>
              <a:t>Treats poisoning of retrieval-augmented generation as something that happens over time, not one query at a time. Attack success falls from 94.8% to 14.0%.</a:t>
            </a:r>
          </a:p>
        </p:txBody>
      </p:sp>
      <p:sp>
        <p:nvSpPr>
          <p:cNvPr id="26" name="TextBox 25"/>
          <p:cNvSpPr txBox="1"/>
          <p:nvPr/>
        </p:nvSpPr>
        <p:spPr>
          <a:xfrm>
            <a:off x="777240" y="6291072"/>
            <a:ext cx="10271455" cy="219456"/>
          </a:xfrm>
          <a:prstGeom prst="rect">
            <a:avLst/>
          </a:prstGeom>
          <a:noFill/>
        </p:spPr>
        <p:txBody>
          <a:bodyPr wrap="square" anchor="t" lIns="0" rIns="0" tIns="0" bIns="0">
            <a:spAutoFit/>
          </a:bodyPr>
          <a:lstStyle/>
          <a:p>
            <a:pPr algn="l">
              <a:lnSpc>
                <a:spcPct val="100000"/>
              </a:lnSpc>
              <a:spcAft>
                <a:spcPts val="0"/>
              </a:spcAft>
            </a:pPr>
            <a:r>
              <a:rPr sz="950" b="0" i="0">
                <a:solidFill>
                  <a:srgbClr val="666666"/>
                </a:solidFill>
                <a:latin typeface="Calibri"/>
              </a:rPr>
              <a:t>RAISE Lab  ·  HCMUT, VNU-HCM</a:t>
            </a:r>
          </a:p>
        </p:txBody>
      </p:sp>
      <p:sp>
        <p:nvSpPr>
          <p:cNvPr id="27" name="TextBox 26"/>
          <p:cNvSpPr txBox="1"/>
          <p:nvPr/>
        </p:nvSpPr>
        <p:spPr>
          <a:xfrm>
            <a:off x="10865815" y="6291072"/>
            <a:ext cx="548640" cy="219456"/>
          </a:xfrm>
          <a:prstGeom prst="rect">
            <a:avLst/>
          </a:prstGeom>
          <a:noFill/>
        </p:spPr>
        <p:txBody>
          <a:bodyPr wrap="square" anchor="t" lIns="0" rIns="0" tIns="0" bIns="0">
            <a:spAutoFit/>
          </a:bodyPr>
          <a:lstStyle/>
          <a:p>
            <a:pPr algn="r">
              <a:lnSpc>
                <a:spcPct val="100000"/>
              </a:lnSpc>
              <a:spcAft>
                <a:spcPts val="0"/>
              </a:spcAft>
            </a:pPr>
            <a:r>
              <a:rPr sz="950" b="0" i="0">
                <a:solidFill>
                  <a:srgbClr val="666666"/>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74320"/>
          </a:xfrm>
          <a:prstGeom prst="rect">
            <a:avLst/>
          </a:prstGeom>
          <a:noFill/>
        </p:spPr>
        <p:txBody>
          <a:bodyPr wrap="square" anchor="t" lIns="0" rIns="0" tIns="0" bIns="0">
            <a:spAutoFit/>
          </a:bodyPr>
          <a:lstStyle/>
          <a:p>
            <a:pPr algn="l">
              <a:lnSpc>
                <a:spcPct val="100000"/>
              </a:lnSpc>
              <a:spcAft>
                <a:spcPts val="0"/>
              </a:spcAft>
            </a:pPr>
            <a:r>
              <a:rPr sz="1150" b="1" i="0">
                <a:solidFill>
                  <a:srgbClr val="E94560"/>
                </a:solidFill>
                <a:latin typeface="Calibri"/>
              </a:rPr>
              <a:t>CURRENT DIRECTIONS</a:t>
            </a:r>
          </a:p>
        </p:txBody>
      </p:sp>
      <p:sp>
        <p:nvSpPr>
          <p:cNvPr id="4" name="TextBox 3"/>
          <p:cNvSpPr txBox="1"/>
          <p:nvPr/>
        </p:nvSpPr>
        <p:spPr>
          <a:xfrm>
            <a:off x="777240" y="786384"/>
            <a:ext cx="10637215" cy="566928"/>
          </a:xfrm>
          <a:prstGeom prst="rect">
            <a:avLst/>
          </a:prstGeom>
          <a:noFill/>
        </p:spPr>
        <p:txBody>
          <a:bodyPr wrap="square" anchor="t" lIns="0" rIns="0" tIns="0" bIns="0">
            <a:spAutoFit/>
          </a:bodyPr>
          <a:lstStyle/>
          <a:p>
            <a:pPr algn="l">
              <a:lnSpc>
                <a:spcPct val="100000"/>
              </a:lnSpc>
              <a:spcAft>
                <a:spcPts val="0"/>
              </a:spcAft>
            </a:pPr>
            <a:r>
              <a:rPr sz="3000" b="0" i="0">
                <a:solidFill>
                  <a:srgbClr val="1A1A2E"/>
                </a:solidFill>
                <a:latin typeface="Georgia"/>
              </a:rPr>
              <a:t>Ongoing research</a:t>
            </a:r>
          </a:p>
        </p:txBody>
      </p:sp>
      <p:sp>
        <p:nvSpPr>
          <p:cNvPr id="5" name="Rectangle 4"/>
          <p:cNvSpPr/>
          <p:nvPr/>
        </p:nvSpPr>
        <p:spPr>
          <a:xfrm>
            <a:off x="777240" y="1426464"/>
            <a:ext cx="566928" cy="38100"/>
          </a:xfrm>
          <a:prstGeom prst="rect">
            <a:avLst/>
          </a:prstGeom>
          <a:solidFill>
            <a:srgbClr val="E945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77240" y="1645920"/>
            <a:ext cx="10058400" cy="566928"/>
          </a:xfrm>
          <a:prstGeom prst="rect">
            <a:avLst/>
          </a:prstGeom>
          <a:noFill/>
        </p:spPr>
        <p:txBody>
          <a:bodyPr wrap="square" anchor="t" lIns="0" rIns="0" tIns="0" bIns="0">
            <a:spAutoFit/>
          </a:bodyPr>
          <a:lstStyle/>
          <a:p>
            <a:pPr algn="l">
              <a:lnSpc>
                <a:spcPct val="130000"/>
              </a:lnSpc>
              <a:spcAft>
                <a:spcPts val="0"/>
              </a:spcAft>
            </a:pPr>
            <a:r>
              <a:rPr sz="1400" b="0" i="0">
                <a:solidFill>
                  <a:srgbClr val="666666"/>
                </a:solidFill>
                <a:latin typeface="Calibri"/>
              </a:rPr>
              <a:t>The first wave of agent research asked what these systems can do. The questions we find interesting now are second-order: </a:t>
            </a:r>
            <a:r>
              <a:rPr sz="1400" b="1" i="0">
                <a:solidFill>
                  <a:srgbClr val="1A1A2E"/>
                </a:solidFill>
                <a:latin typeface="Calibri"/>
              </a:rPr>
              <a:t>not whether an agent can act, but when it should, and on whose evidence.</a:t>
            </a:r>
          </a:p>
        </p:txBody>
      </p:sp>
      <p:sp>
        <p:nvSpPr>
          <p:cNvPr id="7" name="Rectangle 6"/>
          <p:cNvSpPr/>
          <p:nvPr/>
        </p:nvSpPr>
        <p:spPr>
          <a:xfrm>
            <a:off x="777240" y="2487168"/>
            <a:ext cx="2025030" cy="3017520"/>
          </a:xfrm>
          <a:prstGeom prst="rect">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487168"/>
            <a:ext cx="2025030" cy="44450"/>
          </a:xfrm>
          <a:prstGeom prst="rect">
            <a:avLst/>
          </a:prstGeom>
          <a:solidFill>
            <a:srgbClr val="E945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96696" y="2743200"/>
            <a:ext cx="1586118" cy="713232"/>
          </a:xfrm>
          <a:prstGeom prst="rect">
            <a:avLst/>
          </a:prstGeom>
          <a:noFill/>
        </p:spPr>
        <p:txBody>
          <a:bodyPr wrap="square" anchor="t" lIns="0" rIns="0" tIns="0" bIns="0">
            <a:spAutoFit/>
          </a:bodyPr>
          <a:lstStyle/>
          <a:p>
            <a:pPr algn="l">
              <a:lnSpc>
                <a:spcPct val="114000"/>
              </a:lnSpc>
              <a:spcAft>
                <a:spcPts val="0"/>
              </a:spcAft>
            </a:pPr>
            <a:r>
              <a:rPr sz="1500" b="0" i="0">
                <a:solidFill>
                  <a:srgbClr val="1A1A2E"/>
                </a:solidFill>
                <a:latin typeface="Georgia"/>
              </a:rPr>
              <a:t>When should
it search?</a:t>
            </a:r>
          </a:p>
        </p:txBody>
      </p:sp>
      <p:sp>
        <p:nvSpPr>
          <p:cNvPr id="10" name="TextBox 9"/>
          <p:cNvSpPr txBox="1"/>
          <p:nvPr/>
        </p:nvSpPr>
        <p:spPr>
          <a:xfrm>
            <a:off x="996696" y="3584448"/>
            <a:ext cx="1586118" cy="1737360"/>
          </a:xfrm>
          <a:prstGeom prst="rect">
            <a:avLst/>
          </a:prstGeom>
          <a:noFill/>
        </p:spPr>
        <p:txBody>
          <a:bodyPr wrap="square" anchor="t" lIns="0" rIns="0" tIns="0" bIns="0">
            <a:spAutoFit/>
          </a:bodyPr>
          <a:lstStyle/>
          <a:p>
            <a:pPr algn="l">
              <a:lnSpc>
                <a:spcPct val="122000"/>
              </a:lnSpc>
              <a:spcAft>
                <a:spcPts val="0"/>
              </a:spcAft>
            </a:pPr>
            <a:r>
              <a:rPr sz="1050" b="0" i="0">
                <a:solidFill>
                  <a:srgbClr val="666666"/>
                </a:solidFill>
                <a:latin typeface="Calibri"/>
              </a:rPr>
              <a:t>Retrieval treated as a decision with a cost. Look something up only while the next lookup is worth more than it costs, and ask the user when asking beats guessing.</a:t>
            </a:r>
          </a:p>
        </p:txBody>
      </p:sp>
      <p:sp>
        <p:nvSpPr>
          <p:cNvPr id="11" name="Rectangle 10"/>
          <p:cNvSpPr/>
          <p:nvPr/>
        </p:nvSpPr>
        <p:spPr>
          <a:xfrm>
            <a:off x="2930286" y="2487168"/>
            <a:ext cx="2025030" cy="3017520"/>
          </a:xfrm>
          <a:prstGeom prst="rect">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2930286" y="2487168"/>
            <a:ext cx="2025030" cy="44450"/>
          </a:xfrm>
          <a:prstGeom prst="rect">
            <a:avLst/>
          </a:prstGeom>
          <a:solidFill>
            <a:srgbClr val="F39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149742" y="2743200"/>
            <a:ext cx="1586118" cy="713232"/>
          </a:xfrm>
          <a:prstGeom prst="rect">
            <a:avLst/>
          </a:prstGeom>
          <a:noFill/>
        </p:spPr>
        <p:txBody>
          <a:bodyPr wrap="square" anchor="t" lIns="0" rIns="0" tIns="0" bIns="0">
            <a:spAutoFit/>
          </a:bodyPr>
          <a:lstStyle/>
          <a:p>
            <a:pPr algn="l">
              <a:lnSpc>
                <a:spcPct val="114000"/>
              </a:lnSpc>
              <a:spcAft>
                <a:spcPts val="0"/>
              </a:spcAft>
            </a:pPr>
            <a:r>
              <a:rPr sz="1500" b="0" i="0">
                <a:solidFill>
                  <a:srgbClr val="1A1A2E"/>
                </a:solidFill>
                <a:latin typeface="Georgia"/>
              </a:rPr>
              <a:t>Whom should
it trust?</a:t>
            </a:r>
          </a:p>
        </p:txBody>
      </p:sp>
      <p:sp>
        <p:nvSpPr>
          <p:cNvPr id="14" name="TextBox 13"/>
          <p:cNvSpPr txBox="1"/>
          <p:nvPr/>
        </p:nvSpPr>
        <p:spPr>
          <a:xfrm>
            <a:off x="3149742" y="3584448"/>
            <a:ext cx="1586118" cy="1737360"/>
          </a:xfrm>
          <a:prstGeom prst="rect">
            <a:avLst/>
          </a:prstGeom>
          <a:noFill/>
        </p:spPr>
        <p:txBody>
          <a:bodyPr wrap="square" anchor="t" lIns="0" rIns="0" tIns="0" bIns="0">
            <a:spAutoFit/>
          </a:bodyPr>
          <a:lstStyle/>
          <a:p>
            <a:pPr algn="l">
              <a:lnSpc>
                <a:spcPct val="122000"/>
              </a:lnSpc>
              <a:spcAft>
                <a:spcPts val="0"/>
              </a:spcAft>
            </a:pPr>
            <a:r>
              <a:rPr sz="1050" b="0" i="0">
                <a:solidFill>
                  <a:srgbClr val="666666"/>
                </a:solidFill>
                <a:latin typeface="Calibri"/>
              </a:rPr>
              <a:t>Ten sources that copied one another are not ten pieces of evidence. We weigh evidence by independence, and stop untrusted content from ever carrying authority.</a:t>
            </a:r>
          </a:p>
        </p:txBody>
      </p:sp>
      <p:sp>
        <p:nvSpPr>
          <p:cNvPr id="15" name="Rectangle 14"/>
          <p:cNvSpPr/>
          <p:nvPr/>
        </p:nvSpPr>
        <p:spPr>
          <a:xfrm>
            <a:off x="5083332" y="2487168"/>
            <a:ext cx="2025030" cy="3017520"/>
          </a:xfrm>
          <a:prstGeom prst="rect">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083332" y="2487168"/>
            <a:ext cx="2025030" cy="44450"/>
          </a:xfrm>
          <a:prstGeom prst="rect">
            <a:avLst/>
          </a:prstGeom>
          <a:solidFill>
            <a:srgbClr val="6C9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302788" y="2743200"/>
            <a:ext cx="1586118" cy="713232"/>
          </a:xfrm>
          <a:prstGeom prst="rect">
            <a:avLst/>
          </a:prstGeom>
          <a:noFill/>
        </p:spPr>
        <p:txBody>
          <a:bodyPr wrap="square" anchor="t" lIns="0" rIns="0" tIns="0" bIns="0">
            <a:spAutoFit/>
          </a:bodyPr>
          <a:lstStyle/>
          <a:p>
            <a:pPr algn="l">
              <a:lnSpc>
                <a:spcPct val="114000"/>
              </a:lnSpc>
              <a:spcAft>
                <a:spcPts val="0"/>
              </a:spcAft>
            </a:pPr>
            <a:r>
              <a:rPr sz="1500" b="0" i="0">
                <a:solidFill>
                  <a:srgbClr val="1A1A2E"/>
                </a:solidFill>
                <a:latin typeface="Georgia"/>
              </a:rPr>
              <a:t>What should
it remember?</a:t>
            </a:r>
          </a:p>
        </p:txBody>
      </p:sp>
      <p:sp>
        <p:nvSpPr>
          <p:cNvPr id="18" name="TextBox 17"/>
          <p:cNvSpPr txBox="1"/>
          <p:nvPr/>
        </p:nvSpPr>
        <p:spPr>
          <a:xfrm>
            <a:off x="5302788" y="3584448"/>
            <a:ext cx="1586118" cy="1737360"/>
          </a:xfrm>
          <a:prstGeom prst="rect">
            <a:avLst/>
          </a:prstGeom>
          <a:noFill/>
        </p:spPr>
        <p:txBody>
          <a:bodyPr wrap="square" anchor="t" lIns="0" rIns="0" tIns="0" bIns="0">
            <a:spAutoFit/>
          </a:bodyPr>
          <a:lstStyle/>
          <a:p>
            <a:pPr algn="l">
              <a:lnSpc>
                <a:spcPct val="122000"/>
              </a:lnSpc>
              <a:spcAft>
                <a:spcPts val="0"/>
              </a:spcAft>
            </a:pPr>
            <a:r>
              <a:rPr sz="1050" b="0" i="0">
                <a:solidFill>
                  <a:srgbClr val="666666"/>
                </a:solidFill>
                <a:latin typeface="Calibri"/>
              </a:rPr>
              <a:t>Facts expire. We work on memory that tracks how long something stays true, and notices when fresh evidence contradicts what it stored.</a:t>
            </a:r>
          </a:p>
        </p:txBody>
      </p:sp>
      <p:sp>
        <p:nvSpPr>
          <p:cNvPr id="19" name="Rectangle 18"/>
          <p:cNvSpPr/>
          <p:nvPr/>
        </p:nvSpPr>
        <p:spPr>
          <a:xfrm>
            <a:off x="7236378" y="2487168"/>
            <a:ext cx="2025030" cy="3017520"/>
          </a:xfrm>
          <a:prstGeom prst="rect">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7236378" y="2487168"/>
            <a:ext cx="2025030" cy="44450"/>
          </a:xfrm>
          <a:prstGeom prst="rect">
            <a:avLst/>
          </a:prstGeom>
          <a:solidFill>
            <a:srgbClr val="7EB0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455834" y="2743200"/>
            <a:ext cx="1586118" cy="713232"/>
          </a:xfrm>
          <a:prstGeom prst="rect">
            <a:avLst/>
          </a:prstGeom>
          <a:noFill/>
        </p:spPr>
        <p:txBody>
          <a:bodyPr wrap="square" anchor="t" lIns="0" rIns="0" tIns="0" bIns="0">
            <a:spAutoFit/>
          </a:bodyPr>
          <a:lstStyle/>
          <a:p>
            <a:pPr algn="l">
              <a:lnSpc>
                <a:spcPct val="114000"/>
              </a:lnSpc>
              <a:spcAft>
                <a:spcPts val="0"/>
              </a:spcAft>
            </a:pPr>
            <a:r>
              <a:rPr sz="1500" b="0" i="0">
                <a:solidFill>
                  <a:srgbClr val="1A1A2E"/>
                </a:solidFill>
                <a:latin typeface="Georgia"/>
              </a:rPr>
              <a:t>How does it
survive change?</a:t>
            </a:r>
          </a:p>
        </p:txBody>
      </p:sp>
      <p:sp>
        <p:nvSpPr>
          <p:cNvPr id="22" name="TextBox 21"/>
          <p:cNvSpPr txBox="1"/>
          <p:nvPr/>
        </p:nvSpPr>
        <p:spPr>
          <a:xfrm>
            <a:off x="7455834" y="3584448"/>
            <a:ext cx="1586118" cy="1737360"/>
          </a:xfrm>
          <a:prstGeom prst="rect">
            <a:avLst/>
          </a:prstGeom>
          <a:noFill/>
        </p:spPr>
        <p:txBody>
          <a:bodyPr wrap="square" anchor="t" lIns="0" rIns="0" tIns="0" bIns="0">
            <a:spAutoFit/>
          </a:bodyPr>
          <a:lstStyle/>
          <a:p>
            <a:pPr algn="l">
              <a:lnSpc>
                <a:spcPct val="122000"/>
              </a:lnSpc>
              <a:spcAft>
                <a:spcPts val="0"/>
              </a:spcAft>
            </a:pPr>
            <a:r>
              <a:rPr sz="1050" b="0" i="0">
                <a:solidFill>
                  <a:srgbClr val="666666"/>
                </a:solidFill>
                <a:latin typeface="Calibri"/>
              </a:rPr>
              <a:t>Interfaces move, distributions shift, benchmarks go stale. A system should notice when it is running outside the conditions it was validated on.</a:t>
            </a:r>
          </a:p>
        </p:txBody>
      </p:sp>
      <p:sp>
        <p:nvSpPr>
          <p:cNvPr id="23" name="Rectangle 22"/>
          <p:cNvSpPr/>
          <p:nvPr/>
        </p:nvSpPr>
        <p:spPr>
          <a:xfrm>
            <a:off x="9389424" y="2487168"/>
            <a:ext cx="2025030" cy="3017520"/>
          </a:xfrm>
          <a:prstGeom prst="rect">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9389424" y="2487168"/>
            <a:ext cx="2025030" cy="44450"/>
          </a:xfrm>
          <a:prstGeom prst="rect">
            <a:avLst/>
          </a:prstGeom>
          <a:solidFill>
            <a:srgbClr val="9B8E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608880" y="2743200"/>
            <a:ext cx="1586118" cy="713232"/>
          </a:xfrm>
          <a:prstGeom prst="rect">
            <a:avLst/>
          </a:prstGeom>
          <a:noFill/>
        </p:spPr>
        <p:txBody>
          <a:bodyPr wrap="square" anchor="t" lIns="0" rIns="0" tIns="0" bIns="0">
            <a:spAutoFit/>
          </a:bodyPr>
          <a:lstStyle/>
          <a:p>
            <a:pPr algn="l">
              <a:lnSpc>
                <a:spcPct val="114000"/>
              </a:lnSpc>
              <a:spcAft>
                <a:spcPts val="0"/>
              </a:spcAft>
            </a:pPr>
            <a:r>
              <a:rPr sz="1500" b="0" i="0">
                <a:solidFill>
                  <a:srgbClr val="1A1A2E"/>
                </a:solidFill>
                <a:latin typeface="Georgia"/>
              </a:rPr>
              <a:t>Can it show
its work?</a:t>
            </a:r>
          </a:p>
        </p:txBody>
      </p:sp>
      <p:sp>
        <p:nvSpPr>
          <p:cNvPr id="26" name="TextBox 25"/>
          <p:cNvSpPr txBox="1"/>
          <p:nvPr/>
        </p:nvSpPr>
        <p:spPr>
          <a:xfrm>
            <a:off x="9608880" y="3584448"/>
            <a:ext cx="1586118" cy="1737360"/>
          </a:xfrm>
          <a:prstGeom prst="rect">
            <a:avLst/>
          </a:prstGeom>
          <a:noFill/>
        </p:spPr>
        <p:txBody>
          <a:bodyPr wrap="square" anchor="t" lIns="0" rIns="0" tIns="0" bIns="0">
            <a:spAutoFit/>
          </a:bodyPr>
          <a:lstStyle/>
          <a:p>
            <a:pPr algn="l">
              <a:lnSpc>
                <a:spcPct val="122000"/>
              </a:lnSpc>
              <a:spcAft>
                <a:spcPts val="0"/>
              </a:spcAft>
            </a:pPr>
            <a:r>
              <a:rPr sz="1050" b="0" i="0">
                <a:solidFill>
                  <a:srgbClr val="666666"/>
                </a:solidFill>
                <a:latin typeface="Calibri"/>
              </a:rPr>
              <a:t>Provenance you could hand to an auditor, tracing an output back through the data and the decisions that produced it. Sometimes with cryptographic guarantees.</a:t>
            </a:r>
          </a:p>
        </p:txBody>
      </p:sp>
      <p:sp>
        <p:nvSpPr>
          <p:cNvPr id="27" name="TextBox 26"/>
          <p:cNvSpPr txBox="1"/>
          <p:nvPr/>
        </p:nvSpPr>
        <p:spPr>
          <a:xfrm>
            <a:off x="777240" y="5687568"/>
            <a:ext cx="10637215" cy="365760"/>
          </a:xfrm>
          <a:prstGeom prst="rect">
            <a:avLst/>
          </a:prstGeom>
          <a:noFill/>
        </p:spPr>
        <p:txBody>
          <a:bodyPr wrap="square" anchor="t" lIns="0" rIns="0" tIns="0" bIns="0">
            <a:spAutoFit/>
          </a:bodyPr>
          <a:lstStyle/>
          <a:p>
            <a:pPr algn="l">
              <a:lnSpc>
                <a:spcPct val="100000"/>
              </a:lnSpc>
              <a:spcAft>
                <a:spcPts val="0"/>
              </a:spcAft>
            </a:pPr>
            <a:r>
              <a:rPr sz="1150" b="0" i="0">
                <a:solidFill>
                  <a:srgbClr val="666666"/>
                </a:solidFill>
                <a:latin typeface="Calibri"/>
              </a:rPr>
              <a:t>Each question has work in preparation or under submission across search, security, data mining and machine learning venues.</a:t>
            </a:r>
          </a:p>
        </p:txBody>
      </p:sp>
      <p:sp>
        <p:nvSpPr>
          <p:cNvPr id="28" name="TextBox 27"/>
          <p:cNvSpPr txBox="1"/>
          <p:nvPr/>
        </p:nvSpPr>
        <p:spPr>
          <a:xfrm>
            <a:off x="777240" y="6291072"/>
            <a:ext cx="10271455" cy="219456"/>
          </a:xfrm>
          <a:prstGeom prst="rect">
            <a:avLst/>
          </a:prstGeom>
          <a:noFill/>
        </p:spPr>
        <p:txBody>
          <a:bodyPr wrap="square" anchor="t" lIns="0" rIns="0" tIns="0" bIns="0">
            <a:spAutoFit/>
          </a:bodyPr>
          <a:lstStyle/>
          <a:p>
            <a:pPr algn="l">
              <a:lnSpc>
                <a:spcPct val="100000"/>
              </a:lnSpc>
              <a:spcAft>
                <a:spcPts val="0"/>
              </a:spcAft>
            </a:pPr>
            <a:r>
              <a:rPr sz="950" b="0" i="0">
                <a:solidFill>
                  <a:srgbClr val="666666"/>
                </a:solidFill>
                <a:latin typeface="Calibri"/>
              </a:rPr>
              <a:t>RAISE Lab  ·  HCMUT, VNU-HCM</a:t>
            </a:r>
          </a:p>
        </p:txBody>
      </p:sp>
      <p:sp>
        <p:nvSpPr>
          <p:cNvPr id="29" name="TextBox 28"/>
          <p:cNvSpPr txBox="1"/>
          <p:nvPr/>
        </p:nvSpPr>
        <p:spPr>
          <a:xfrm>
            <a:off x="10865815" y="6291072"/>
            <a:ext cx="548640" cy="219456"/>
          </a:xfrm>
          <a:prstGeom prst="rect">
            <a:avLst/>
          </a:prstGeom>
          <a:noFill/>
        </p:spPr>
        <p:txBody>
          <a:bodyPr wrap="square" anchor="t" lIns="0" rIns="0" tIns="0" bIns="0">
            <a:spAutoFit/>
          </a:bodyPr>
          <a:lstStyle/>
          <a:p>
            <a:pPr algn="r">
              <a:lnSpc>
                <a:spcPct val="100000"/>
              </a:lnSpc>
              <a:spcAft>
                <a:spcPts val="0"/>
              </a:spcAft>
            </a:pPr>
            <a:r>
              <a:rPr sz="950" b="0" i="0">
                <a:solidFill>
                  <a:srgbClr val="666666"/>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74320"/>
          </a:xfrm>
          <a:prstGeom prst="rect">
            <a:avLst/>
          </a:prstGeom>
          <a:noFill/>
        </p:spPr>
        <p:txBody>
          <a:bodyPr wrap="square" anchor="t" lIns="0" rIns="0" tIns="0" bIns="0">
            <a:spAutoFit/>
          </a:bodyPr>
          <a:lstStyle/>
          <a:p>
            <a:pPr algn="l">
              <a:lnSpc>
                <a:spcPct val="100000"/>
              </a:lnSpc>
              <a:spcAft>
                <a:spcPts val="0"/>
              </a:spcAft>
            </a:pPr>
            <a:r>
              <a:rPr sz="1150" b="1" i="0">
                <a:solidFill>
                  <a:srgbClr val="E94560"/>
                </a:solidFill>
                <a:latin typeface="Calibri"/>
              </a:rPr>
              <a:t>PUBLICATION RECORD</a:t>
            </a:r>
          </a:p>
        </p:txBody>
      </p:sp>
      <p:sp>
        <p:nvSpPr>
          <p:cNvPr id="4" name="TextBox 3"/>
          <p:cNvSpPr txBox="1"/>
          <p:nvPr/>
        </p:nvSpPr>
        <p:spPr>
          <a:xfrm>
            <a:off x="777240" y="786384"/>
            <a:ext cx="10637215" cy="566928"/>
          </a:xfrm>
          <a:prstGeom prst="rect">
            <a:avLst/>
          </a:prstGeom>
          <a:noFill/>
        </p:spPr>
        <p:txBody>
          <a:bodyPr wrap="square" anchor="t" lIns="0" rIns="0" tIns="0" bIns="0">
            <a:spAutoFit/>
          </a:bodyPr>
          <a:lstStyle/>
          <a:p>
            <a:pPr algn="l">
              <a:lnSpc>
                <a:spcPct val="100000"/>
              </a:lnSpc>
              <a:spcAft>
                <a:spcPts val="0"/>
              </a:spcAft>
            </a:pPr>
            <a:r>
              <a:rPr sz="3000" b="0" i="0">
                <a:solidFill>
                  <a:srgbClr val="FFFFFF"/>
                </a:solidFill>
                <a:latin typeface="Georgia"/>
              </a:rPr>
              <a:t>A new laboratory built on established methods</a:t>
            </a:r>
          </a:p>
        </p:txBody>
      </p:sp>
      <p:sp>
        <p:nvSpPr>
          <p:cNvPr id="5" name="Rectangle 4"/>
          <p:cNvSpPr/>
          <p:nvPr/>
        </p:nvSpPr>
        <p:spPr>
          <a:xfrm>
            <a:off x="777240" y="1426464"/>
            <a:ext cx="566928" cy="38100"/>
          </a:xfrm>
          <a:prstGeom prst="rect">
            <a:avLst/>
          </a:prstGeom>
          <a:solidFill>
            <a:srgbClr val="E945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777240" y="1810512"/>
            <a:ext cx="3454298" cy="1298448"/>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029968"/>
            <a:ext cx="3454298" cy="640080"/>
          </a:xfrm>
          <a:prstGeom prst="rect">
            <a:avLst/>
          </a:prstGeom>
          <a:noFill/>
        </p:spPr>
        <p:txBody>
          <a:bodyPr wrap="square" anchor="t" lIns="0" rIns="0" tIns="0" bIns="0">
            <a:spAutoFit/>
          </a:bodyPr>
          <a:lstStyle/>
          <a:p>
            <a:pPr algn="ctr">
              <a:lnSpc>
                <a:spcPct val="100000"/>
              </a:lnSpc>
              <a:spcAft>
                <a:spcPts val="0"/>
              </a:spcAft>
            </a:pPr>
            <a:r>
              <a:rPr sz="4400" b="0" i="0">
                <a:solidFill>
                  <a:srgbClr val="FFFFFF"/>
                </a:solidFill>
                <a:latin typeface="Georgia"/>
              </a:rPr>
              <a:t>28</a:t>
            </a:r>
          </a:p>
        </p:txBody>
      </p:sp>
      <p:sp>
        <p:nvSpPr>
          <p:cNvPr id="8" name="TextBox 7"/>
          <p:cNvSpPr txBox="1"/>
          <p:nvPr/>
        </p:nvSpPr>
        <p:spPr>
          <a:xfrm>
            <a:off x="777240" y="2697480"/>
            <a:ext cx="3454298" cy="274320"/>
          </a:xfrm>
          <a:prstGeom prst="rect">
            <a:avLst/>
          </a:prstGeom>
          <a:noFill/>
        </p:spPr>
        <p:txBody>
          <a:bodyPr wrap="square" anchor="t" lIns="0" rIns="0" tIns="0" bIns="0">
            <a:spAutoFit/>
          </a:bodyPr>
          <a:lstStyle/>
          <a:p>
            <a:pPr algn="ctr">
              <a:lnSpc>
                <a:spcPct val="100000"/>
              </a:lnSpc>
              <a:spcAft>
                <a:spcPts val="0"/>
              </a:spcAft>
            </a:pPr>
            <a:r>
              <a:rPr sz="1000" b="1" i="0">
                <a:solidFill>
                  <a:srgbClr val="E94560"/>
                </a:solidFill>
                <a:latin typeface="Calibri"/>
              </a:rPr>
              <a:t>PUBLICATIONS</a:t>
            </a:r>
          </a:p>
        </p:txBody>
      </p:sp>
      <p:sp>
        <p:nvSpPr>
          <p:cNvPr id="9" name="Rectangle 8"/>
          <p:cNvSpPr/>
          <p:nvPr/>
        </p:nvSpPr>
        <p:spPr>
          <a:xfrm>
            <a:off x="4368698" y="1810512"/>
            <a:ext cx="3454298" cy="1298448"/>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368698" y="2029968"/>
            <a:ext cx="3454298" cy="640080"/>
          </a:xfrm>
          <a:prstGeom prst="rect">
            <a:avLst/>
          </a:prstGeom>
          <a:noFill/>
        </p:spPr>
        <p:txBody>
          <a:bodyPr wrap="square" anchor="t" lIns="0" rIns="0" tIns="0" bIns="0">
            <a:spAutoFit/>
          </a:bodyPr>
          <a:lstStyle/>
          <a:p>
            <a:pPr algn="ctr">
              <a:lnSpc>
                <a:spcPct val="100000"/>
              </a:lnSpc>
              <a:spcAft>
                <a:spcPts val="0"/>
              </a:spcAft>
            </a:pPr>
            <a:r>
              <a:rPr sz="4400" b="0" i="0">
                <a:solidFill>
                  <a:srgbClr val="FFFFFF"/>
                </a:solidFill>
                <a:latin typeface="Georgia"/>
              </a:rPr>
              <a:t>19</a:t>
            </a:r>
          </a:p>
        </p:txBody>
      </p:sp>
      <p:sp>
        <p:nvSpPr>
          <p:cNvPr id="11" name="TextBox 10"/>
          <p:cNvSpPr txBox="1"/>
          <p:nvPr/>
        </p:nvSpPr>
        <p:spPr>
          <a:xfrm>
            <a:off x="4368698" y="2697480"/>
            <a:ext cx="3454298" cy="274320"/>
          </a:xfrm>
          <a:prstGeom prst="rect">
            <a:avLst/>
          </a:prstGeom>
          <a:noFill/>
        </p:spPr>
        <p:txBody>
          <a:bodyPr wrap="square" anchor="t" lIns="0" rIns="0" tIns="0" bIns="0">
            <a:spAutoFit/>
          </a:bodyPr>
          <a:lstStyle/>
          <a:p>
            <a:pPr algn="ctr">
              <a:lnSpc>
                <a:spcPct val="100000"/>
              </a:lnSpc>
              <a:spcAft>
                <a:spcPts val="0"/>
              </a:spcAft>
            </a:pPr>
            <a:r>
              <a:rPr sz="1000" b="1" i="0">
                <a:solidFill>
                  <a:srgbClr val="E94560"/>
                </a:solidFill>
                <a:latin typeface="Calibri"/>
              </a:rPr>
              <a:t>PAPERS IN 2026</a:t>
            </a:r>
          </a:p>
        </p:txBody>
      </p:sp>
      <p:sp>
        <p:nvSpPr>
          <p:cNvPr id="12" name="Rectangle 11"/>
          <p:cNvSpPr/>
          <p:nvPr/>
        </p:nvSpPr>
        <p:spPr>
          <a:xfrm>
            <a:off x="7960156" y="1810512"/>
            <a:ext cx="3454298" cy="1298448"/>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960156" y="2029968"/>
            <a:ext cx="3454298" cy="640080"/>
          </a:xfrm>
          <a:prstGeom prst="rect">
            <a:avLst/>
          </a:prstGeom>
          <a:noFill/>
        </p:spPr>
        <p:txBody>
          <a:bodyPr wrap="square" anchor="t" lIns="0" rIns="0" tIns="0" bIns="0">
            <a:spAutoFit/>
          </a:bodyPr>
          <a:lstStyle/>
          <a:p>
            <a:pPr algn="ctr">
              <a:lnSpc>
                <a:spcPct val="100000"/>
              </a:lnSpc>
              <a:spcAft>
                <a:spcPts val="0"/>
              </a:spcAft>
            </a:pPr>
            <a:r>
              <a:rPr sz="4400" b="0" i="0">
                <a:solidFill>
                  <a:srgbClr val="FFFFFF"/>
                </a:solidFill>
                <a:latin typeface="Georgia"/>
              </a:rPr>
              <a:t>14</a:t>
            </a:r>
          </a:p>
        </p:txBody>
      </p:sp>
      <p:sp>
        <p:nvSpPr>
          <p:cNvPr id="14" name="TextBox 13"/>
          <p:cNvSpPr txBox="1"/>
          <p:nvPr/>
        </p:nvSpPr>
        <p:spPr>
          <a:xfrm>
            <a:off x="7960156" y="2697480"/>
            <a:ext cx="3454298" cy="274320"/>
          </a:xfrm>
          <a:prstGeom prst="rect">
            <a:avLst/>
          </a:prstGeom>
          <a:noFill/>
        </p:spPr>
        <p:txBody>
          <a:bodyPr wrap="square" anchor="t" lIns="0" rIns="0" tIns="0" bIns="0">
            <a:spAutoFit/>
          </a:bodyPr>
          <a:lstStyle/>
          <a:p>
            <a:pPr algn="ctr">
              <a:lnSpc>
                <a:spcPct val="100000"/>
              </a:lnSpc>
              <a:spcAft>
                <a:spcPts val="0"/>
              </a:spcAft>
            </a:pPr>
            <a:r>
              <a:rPr sz="1000" b="1" i="0">
                <a:solidFill>
                  <a:srgbClr val="E94560"/>
                </a:solidFill>
                <a:latin typeface="Calibri"/>
              </a:rPr>
              <a:t>RESEARCH DIRECTIONS</a:t>
            </a:r>
          </a:p>
        </p:txBody>
      </p:sp>
      <p:sp>
        <p:nvSpPr>
          <p:cNvPr id="15" name="TextBox 14"/>
          <p:cNvSpPr txBox="1"/>
          <p:nvPr/>
        </p:nvSpPr>
        <p:spPr>
          <a:xfrm>
            <a:off x="777240" y="3429000"/>
            <a:ext cx="10637215" cy="274320"/>
          </a:xfrm>
          <a:prstGeom prst="rect">
            <a:avLst/>
          </a:prstGeom>
          <a:noFill/>
        </p:spPr>
        <p:txBody>
          <a:bodyPr wrap="square" anchor="t" lIns="0" rIns="0" tIns="0" bIns="0">
            <a:spAutoFit/>
          </a:bodyPr>
          <a:lstStyle/>
          <a:p>
            <a:pPr algn="l">
              <a:lnSpc>
                <a:spcPct val="100000"/>
              </a:lnSpc>
              <a:spcAft>
                <a:spcPts val="0"/>
              </a:spcAft>
            </a:pPr>
            <a:r>
              <a:rPr sz="1050" b="1" i="0">
                <a:solidFill>
                  <a:srgbClr val="E94560"/>
                </a:solidFill>
                <a:latin typeface="Calibri"/>
              </a:rPr>
              <a:t>RECENT — SOFTWARE ENGINEERING, DATA MINING, NLP, SECURITY</a:t>
            </a:r>
          </a:p>
        </p:txBody>
      </p:sp>
      <p:sp>
        <p:nvSpPr>
          <p:cNvPr id="16" name="TextBox 15"/>
          <p:cNvSpPr txBox="1"/>
          <p:nvPr/>
        </p:nvSpPr>
        <p:spPr>
          <a:xfrm>
            <a:off x="777240" y="3767328"/>
            <a:ext cx="10637215" cy="457200"/>
          </a:xfrm>
          <a:prstGeom prst="rect">
            <a:avLst/>
          </a:prstGeom>
          <a:noFill/>
        </p:spPr>
        <p:txBody>
          <a:bodyPr wrap="square" anchor="t" lIns="0" rIns="0" tIns="0" bIns="0">
            <a:spAutoFit/>
          </a:bodyPr>
          <a:lstStyle/>
          <a:p>
            <a:pPr algn="l">
              <a:lnSpc>
                <a:spcPct val="130000"/>
              </a:lnSpc>
              <a:spcAft>
                <a:spcPts val="0"/>
              </a:spcAft>
            </a:pPr>
            <a:r>
              <a:rPr sz="1450" b="0" i="0">
                <a:solidFill>
                  <a:srgbClr val="FFFFFF"/>
                </a:solidFill>
                <a:latin typeface="Calibri"/>
              </a:rPr>
              <a:t>ICDM 2026  ×2   ·   EMNLP 2026   ·   CIKM 2026   ·   ASE 2026  ×2   ·   ISSRE 2026   ·   ACIVS 2026  ×3   ·   ACIIDS 2026  ×2   ·   IEA/AIE 2026  ×4</a:t>
            </a:r>
          </a:p>
        </p:txBody>
      </p:sp>
      <p:sp>
        <p:nvSpPr>
          <p:cNvPr id="17" name="Rectangle 16"/>
          <p:cNvSpPr/>
          <p:nvPr/>
        </p:nvSpPr>
        <p:spPr>
          <a:xfrm>
            <a:off x="777240" y="4498848"/>
            <a:ext cx="10637215" cy="12700"/>
          </a:xfrm>
          <a:prstGeom prst="rect">
            <a:avLst/>
          </a:prstGeom>
          <a:solidFill>
            <a:srgbClr val="3A3F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77240" y="4754880"/>
            <a:ext cx="10637215" cy="274320"/>
          </a:xfrm>
          <a:prstGeom prst="rect">
            <a:avLst/>
          </a:prstGeom>
          <a:noFill/>
        </p:spPr>
        <p:txBody>
          <a:bodyPr wrap="square" anchor="t" lIns="0" rIns="0" tIns="0" bIns="0">
            <a:spAutoFit/>
          </a:bodyPr>
          <a:lstStyle/>
          <a:p>
            <a:pPr algn="l">
              <a:lnSpc>
                <a:spcPct val="100000"/>
              </a:lnSpc>
              <a:spcAft>
                <a:spcPts val="0"/>
              </a:spcAft>
            </a:pPr>
            <a:r>
              <a:rPr sz="1050" b="1" i="0">
                <a:solidFill>
                  <a:srgbClr val="F39C6B"/>
                </a:solidFill>
                <a:latin typeface="Calibri"/>
              </a:rPr>
              <a:t>FOUNDATIONS — PROGRAM VERIFICATION, LOGIC, COMPLEXITY</a:t>
            </a:r>
          </a:p>
        </p:txBody>
      </p:sp>
      <p:sp>
        <p:nvSpPr>
          <p:cNvPr id="19" name="TextBox 18"/>
          <p:cNvSpPr txBox="1"/>
          <p:nvPr/>
        </p:nvSpPr>
        <p:spPr>
          <a:xfrm>
            <a:off x="777240" y="5093208"/>
            <a:ext cx="10637215" cy="457200"/>
          </a:xfrm>
          <a:prstGeom prst="rect">
            <a:avLst/>
          </a:prstGeom>
          <a:noFill/>
        </p:spPr>
        <p:txBody>
          <a:bodyPr wrap="square" anchor="t" lIns="0" rIns="0" tIns="0" bIns="0">
            <a:spAutoFit/>
          </a:bodyPr>
          <a:lstStyle/>
          <a:p>
            <a:pPr algn="l">
              <a:lnSpc>
                <a:spcPct val="130000"/>
              </a:lnSpc>
              <a:spcAft>
                <a:spcPts val="0"/>
              </a:spcAft>
            </a:pPr>
            <a:r>
              <a:rPr sz="1450" b="0" i="0">
                <a:solidFill>
                  <a:srgbClr val="FFFFFF"/>
                </a:solidFill>
                <a:latin typeface="Calibri"/>
              </a:rPr>
              <a:t>NeurIPS 2024   ·   POPL 2022   ·   ICECCS 2020   ·   ICALP 2019   ·   APLAS 2018   ·   ESOP 2018   ·   ICFEM 2017   ·   FSTTCS 2016</a:t>
            </a:r>
          </a:p>
        </p:txBody>
      </p:sp>
      <p:sp>
        <p:nvSpPr>
          <p:cNvPr id="20" name="TextBox 19"/>
          <p:cNvSpPr txBox="1"/>
          <p:nvPr/>
        </p:nvSpPr>
        <p:spPr>
          <a:xfrm>
            <a:off x="777240" y="6291072"/>
            <a:ext cx="10271455" cy="219456"/>
          </a:xfrm>
          <a:prstGeom prst="rect">
            <a:avLst/>
          </a:prstGeom>
          <a:noFill/>
        </p:spPr>
        <p:txBody>
          <a:bodyPr wrap="square" anchor="t" lIns="0" rIns="0" tIns="0" bIns="0">
            <a:spAutoFit/>
          </a:bodyPr>
          <a:lstStyle/>
          <a:p>
            <a:pPr algn="l">
              <a:lnSpc>
                <a:spcPct val="100000"/>
              </a:lnSpc>
              <a:spcAft>
                <a:spcPts val="0"/>
              </a:spcAft>
            </a:pPr>
            <a:r>
              <a:rPr sz="950" b="0" i="0">
                <a:solidFill>
                  <a:srgbClr val="B8BECC"/>
                </a:solidFill>
                <a:latin typeface="Calibri"/>
              </a:rPr>
              <a:t>RAISE Lab  ·  HCMUT, VNU-HCM</a:t>
            </a:r>
          </a:p>
        </p:txBody>
      </p:sp>
      <p:sp>
        <p:nvSpPr>
          <p:cNvPr id="21" name="TextBox 20"/>
          <p:cNvSpPr txBox="1"/>
          <p:nvPr/>
        </p:nvSpPr>
        <p:spPr>
          <a:xfrm>
            <a:off x="10865815" y="6291072"/>
            <a:ext cx="548640" cy="219456"/>
          </a:xfrm>
          <a:prstGeom prst="rect">
            <a:avLst/>
          </a:prstGeom>
          <a:noFill/>
        </p:spPr>
        <p:txBody>
          <a:bodyPr wrap="square" anchor="t" lIns="0" rIns="0" tIns="0" bIns="0">
            <a:spAutoFit/>
          </a:bodyPr>
          <a:lstStyle/>
          <a:p>
            <a:pPr algn="r">
              <a:lnSpc>
                <a:spcPct val="100000"/>
              </a:lnSpc>
              <a:spcAft>
                <a:spcPts val="0"/>
              </a:spcAft>
            </a:pPr>
            <a:r>
              <a:rPr sz="950" b="0" i="0">
                <a:solidFill>
                  <a:srgbClr val="B8BECC"/>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75488"/>
            <a:ext cx="10637215" cy="274320"/>
          </a:xfrm>
          <a:prstGeom prst="rect">
            <a:avLst/>
          </a:prstGeom>
          <a:noFill/>
        </p:spPr>
        <p:txBody>
          <a:bodyPr wrap="square" anchor="t" lIns="0" rIns="0" tIns="0" bIns="0">
            <a:spAutoFit/>
          </a:bodyPr>
          <a:lstStyle/>
          <a:p>
            <a:pPr algn="l">
              <a:lnSpc>
                <a:spcPct val="100000"/>
              </a:lnSpc>
              <a:spcAft>
                <a:spcPts val="0"/>
              </a:spcAft>
            </a:pPr>
            <a:r>
              <a:rPr sz="1150" b="1" i="0">
                <a:solidFill>
                  <a:srgbClr val="E94560"/>
                </a:solidFill>
                <a:latin typeface="Calibri"/>
              </a:rPr>
              <a:t>LABORATORY TEAM</a:t>
            </a:r>
          </a:p>
        </p:txBody>
      </p:sp>
      <p:sp>
        <p:nvSpPr>
          <p:cNvPr id="4" name="TextBox 3"/>
          <p:cNvSpPr txBox="1"/>
          <p:nvPr/>
        </p:nvSpPr>
        <p:spPr>
          <a:xfrm>
            <a:off x="777240" y="786384"/>
            <a:ext cx="10637215" cy="566928"/>
          </a:xfrm>
          <a:prstGeom prst="rect">
            <a:avLst/>
          </a:prstGeom>
          <a:noFill/>
        </p:spPr>
        <p:txBody>
          <a:bodyPr wrap="square" anchor="t" lIns="0" rIns="0" tIns="0" bIns="0">
            <a:spAutoFit/>
          </a:bodyPr>
          <a:lstStyle/>
          <a:p>
            <a:pPr algn="l">
              <a:lnSpc>
                <a:spcPct val="100000"/>
              </a:lnSpc>
              <a:spcAft>
                <a:spcPts val="0"/>
              </a:spcAft>
            </a:pPr>
            <a:r>
              <a:rPr sz="3000" b="0" i="0">
                <a:solidFill>
                  <a:srgbClr val="1A1A2E"/>
                </a:solidFill>
                <a:latin typeface="Georgia"/>
              </a:rPr>
              <a:t>Supervision and members</a:t>
            </a:r>
          </a:p>
        </p:txBody>
      </p:sp>
      <p:sp>
        <p:nvSpPr>
          <p:cNvPr id="5" name="Rectangle 4"/>
          <p:cNvSpPr/>
          <p:nvPr/>
        </p:nvSpPr>
        <p:spPr>
          <a:xfrm>
            <a:off x="777240" y="1426464"/>
            <a:ext cx="566928" cy="38100"/>
          </a:xfrm>
          <a:prstGeom prst="rect">
            <a:avLst/>
          </a:prstGeom>
          <a:solidFill>
            <a:srgbClr val="E945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777240" y="1810512"/>
            <a:ext cx="4572000" cy="37033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810512"/>
            <a:ext cx="4572000" cy="50800"/>
          </a:xfrm>
          <a:prstGeom prst="rect">
            <a:avLst/>
          </a:prstGeom>
          <a:solidFill>
            <a:srgbClr val="E945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161288" y="2148840"/>
            <a:ext cx="3840480" cy="457200"/>
          </a:xfrm>
          <a:prstGeom prst="rect">
            <a:avLst/>
          </a:prstGeom>
          <a:noFill/>
        </p:spPr>
        <p:txBody>
          <a:bodyPr wrap="square" anchor="t" lIns="0" rIns="0" tIns="0" bIns="0">
            <a:spAutoFit/>
          </a:bodyPr>
          <a:lstStyle/>
          <a:p>
            <a:pPr algn="l">
              <a:lnSpc>
                <a:spcPct val="100000"/>
              </a:lnSpc>
              <a:spcAft>
                <a:spcPts val="0"/>
              </a:spcAft>
            </a:pPr>
            <a:r>
              <a:rPr sz="2500" b="0" i="0">
                <a:solidFill>
                  <a:srgbClr val="FFFFFF"/>
                </a:solidFill>
                <a:latin typeface="Georgia"/>
              </a:rPr>
              <a:t>Dr. Xuan-Bach Le</a:t>
            </a:r>
          </a:p>
        </p:txBody>
      </p:sp>
      <p:sp>
        <p:nvSpPr>
          <p:cNvPr id="9" name="TextBox 8"/>
          <p:cNvSpPr txBox="1"/>
          <p:nvPr/>
        </p:nvSpPr>
        <p:spPr>
          <a:xfrm>
            <a:off x="1161288" y="2670048"/>
            <a:ext cx="3840480" cy="274320"/>
          </a:xfrm>
          <a:prstGeom prst="rect">
            <a:avLst/>
          </a:prstGeom>
          <a:noFill/>
        </p:spPr>
        <p:txBody>
          <a:bodyPr wrap="square" anchor="t" lIns="0" rIns="0" tIns="0" bIns="0">
            <a:spAutoFit/>
          </a:bodyPr>
          <a:lstStyle/>
          <a:p>
            <a:pPr algn="l">
              <a:lnSpc>
                <a:spcPct val="100000"/>
              </a:lnSpc>
              <a:spcAft>
                <a:spcPts val="0"/>
              </a:spcAft>
            </a:pPr>
            <a:r>
              <a:rPr sz="1050" b="1" i="0">
                <a:solidFill>
                  <a:srgbClr val="E94560"/>
                </a:solidFill>
                <a:latin typeface="Calibri"/>
              </a:rPr>
              <a:t>HEAD OF LABORATORY · LECTURER, HCMUT</a:t>
            </a:r>
          </a:p>
        </p:txBody>
      </p:sp>
      <p:sp>
        <p:nvSpPr>
          <p:cNvPr id="10" name="TextBox 9"/>
          <p:cNvSpPr txBox="1"/>
          <p:nvPr/>
        </p:nvSpPr>
        <p:spPr>
          <a:xfrm>
            <a:off x="1161288" y="3127248"/>
            <a:ext cx="3840480" cy="2011680"/>
          </a:xfrm>
          <a:prstGeom prst="rect">
            <a:avLst/>
          </a:prstGeom>
          <a:noFill/>
        </p:spPr>
        <p:txBody>
          <a:bodyPr wrap="square" anchor="t" lIns="0" rIns="0" tIns="0" bIns="0">
            <a:spAutoFit/>
          </a:bodyPr>
          <a:lstStyle/>
          <a:p>
            <a:pPr algn="l">
              <a:lnSpc>
                <a:spcPct val="125000"/>
              </a:lnSpc>
              <a:spcAft>
                <a:spcPts val="900"/>
              </a:spcAft>
            </a:pPr>
            <a:r>
              <a:rPr sz="1250" b="0" i="0">
                <a:solidFill>
                  <a:srgbClr val="B8BECC"/>
                </a:solidFill>
                <a:latin typeface="Calibri"/>
              </a:rPr>
              <a:t>PhD, National University of Singapore, in program verification, under Aquinas Hobor and with mentorship from Anthony W. Lin.</a:t>
            </a:r>
          </a:p>
          <a:p>
            <a:pPr algn="l">
              <a:lnSpc>
                <a:spcPct val="125000"/>
              </a:lnSpc>
              <a:spcAft>
                <a:spcPts val="900"/>
              </a:spcAft>
            </a:pPr>
            <a:r>
              <a:rPr sz="1250" b="0" i="0">
                <a:solidFill>
                  <a:srgbClr val="B8BECC"/>
                </a:solidFill>
                <a:latin typeface="Calibri"/>
              </a:rPr>
              <a:t>Postdoctoral researcher, NTU Singapore, with Prof. Luke Ong.</a:t>
            </a:r>
          </a:p>
          <a:p>
            <a:pPr algn="l">
              <a:lnSpc>
                <a:spcPct val="125000"/>
              </a:lnSpc>
              <a:spcAft>
                <a:spcPts val="900"/>
              </a:spcAft>
            </a:pPr>
            <a:r>
              <a:rPr sz="1250" b="0" i="0">
                <a:solidFill>
                  <a:srgbClr val="B8BECC"/>
                </a:solidFill>
                <a:latin typeface="Calibri"/>
              </a:rPr>
              <a:t>Double degree in Computer Science and Pure Mathematics, NUS.</a:t>
            </a:r>
          </a:p>
        </p:txBody>
      </p:sp>
      <p:sp>
        <p:nvSpPr>
          <p:cNvPr id="11" name="TextBox 10"/>
          <p:cNvSpPr txBox="1"/>
          <p:nvPr/>
        </p:nvSpPr>
        <p:spPr>
          <a:xfrm>
            <a:off x="5623560" y="1847088"/>
            <a:ext cx="5790895" cy="274320"/>
          </a:xfrm>
          <a:prstGeom prst="rect">
            <a:avLst/>
          </a:prstGeom>
          <a:noFill/>
        </p:spPr>
        <p:txBody>
          <a:bodyPr wrap="square" anchor="t" lIns="0" rIns="0" tIns="0" bIns="0">
            <a:spAutoFit/>
          </a:bodyPr>
          <a:lstStyle/>
          <a:p>
            <a:pPr algn="l">
              <a:lnSpc>
                <a:spcPct val="100000"/>
              </a:lnSpc>
              <a:spcAft>
                <a:spcPts val="0"/>
              </a:spcAft>
            </a:pPr>
            <a:r>
              <a:rPr sz="1050" b="1" i="0">
                <a:solidFill>
                  <a:srgbClr val="E94560"/>
                </a:solidFill>
                <a:latin typeface="Calibri"/>
              </a:rPr>
              <a:t>CURRENT STUDENTS · SELECTED</a:t>
            </a:r>
          </a:p>
        </p:txBody>
      </p:sp>
      <p:sp>
        <p:nvSpPr>
          <p:cNvPr id="12" name="TextBox 11"/>
          <p:cNvSpPr txBox="1"/>
          <p:nvPr/>
        </p:nvSpPr>
        <p:spPr>
          <a:xfrm>
            <a:off x="5623560" y="2139696"/>
            <a:ext cx="5790895" cy="201168"/>
          </a:xfrm>
          <a:prstGeom prst="rect">
            <a:avLst/>
          </a:prstGeom>
          <a:noFill/>
        </p:spPr>
        <p:txBody>
          <a:bodyPr wrap="square" anchor="t" lIns="0" rIns="0" tIns="0" bIns="0">
            <a:spAutoFit/>
          </a:bodyPr>
          <a:lstStyle/>
          <a:p>
            <a:pPr algn="l">
              <a:lnSpc>
                <a:spcPct val="105000"/>
              </a:lnSpc>
              <a:spcAft>
                <a:spcPts val="0"/>
              </a:spcAft>
            </a:pPr>
            <a:r>
              <a:rPr sz="1200" b="1" i="0">
                <a:solidFill>
                  <a:srgbClr val="1A1A2E"/>
                </a:solidFill>
                <a:latin typeface="Calibri"/>
              </a:rPr>
              <a:t>Thanh-Hai Tran</a:t>
            </a:r>
            <a:r>
              <a:rPr sz="1050" b="0" i="0">
                <a:solidFill>
                  <a:srgbClr val="666666"/>
                </a:solidFill>
                <a:latin typeface="Calibri"/>
              </a:rPr>
              <a:t>   Visual anomaly detection and risk-aware recovery</a:t>
            </a:r>
          </a:p>
        </p:txBody>
      </p:sp>
      <p:sp>
        <p:nvSpPr>
          <p:cNvPr id="13" name="TextBox 12"/>
          <p:cNvSpPr txBox="1"/>
          <p:nvPr/>
        </p:nvSpPr>
        <p:spPr>
          <a:xfrm>
            <a:off x="5623560" y="2459736"/>
            <a:ext cx="5790895" cy="201168"/>
          </a:xfrm>
          <a:prstGeom prst="rect">
            <a:avLst/>
          </a:prstGeom>
          <a:noFill/>
        </p:spPr>
        <p:txBody>
          <a:bodyPr wrap="square" anchor="t" lIns="0" rIns="0" tIns="0" bIns="0">
            <a:spAutoFit/>
          </a:bodyPr>
          <a:lstStyle/>
          <a:p>
            <a:pPr algn="l">
              <a:lnSpc>
                <a:spcPct val="105000"/>
              </a:lnSpc>
              <a:spcAft>
                <a:spcPts val="0"/>
              </a:spcAft>
            </a:pPr>
            <a:r>
              <a:rPr sz="1200" b="1" i="0">
                <a:solidFill>
                  <a:srgbClr val="1A1A2E"/>
                </a:solidFill>
                <a:latin typeface="Calibri"/>
              </a:rPr>
              <a:t>Thi-Hong-Cuc Le</a:t>
            </a:r>
            <a:r>
              <a:rPr sz="1050" b="0" i="0">
                <a:solidFill>
                  <a:srgbClr val="666666"/>
                </a:solidFill>
                <a:latin typeface="Calibri"/>
              </a:rPr>
              <a:t>   Repository-level vulnerability detection and explainable AI</a:t>
            </a:r>
          </a:p>
        </p:txBody>
      </p:sp>
      <p:sp>
        <p:nvSpPr>
          <p:cNvPr id="14" name="TextBox 13"/>
          <p:cNvSpPr txBox="1"/>
          <p:nvPr/>
        </p:nvSpPr>
        <p:spPr>
          <a:xfrm>
            <a:off x="5623560" y="2779776"/>
            <a:ext cx="5790895" cy="201168"/>
          </a:xfrm>
          <a:prstGeom prst="rect">
            <a:avLst/>
          </a:prstGeom>
          <a:noFill/>
        </p:spPr>
        <p:txBody>
          <a:bodyPr wrap="square" anchor="t" lIns="0" rIns="0" tIns="0" bIns="0">
            <a:spAutoFit/>
          </a:bodyPr>
          <a:lstStyle/>
          <a:p>
            <a:pPr algn="l">
              <a:lnSpc>
                <a:spcPct val="105000"/>
              </a:lnSpc>
              <a:spcAft>
                <a:spcPts val="0"/>
              </a:spcAft>
            </a:pPr>
            <a:r>
              <a:rPr sz="1200" b="1" i="0">
                <a:solidFill>
                  <a:srgbClr val="1A1A2E"/>
                </a:solidFill>
                <a:latin typeface="Calibri"/>
              </a:rPr>
              <a:t>Hoang-Quoc-Bao Hua</a:t>
            </a:r>
            <a:r>
              <a:rPr sz="1050" b="0" i="0">
                <a:solidFill>
                  <a:srgbClr val="666666"/>
                </a:solidFill>
                <a:latin typeface="Calibri"/>
              </a:rPr>
              <a:t>   LLM agents for static analysis and assumption validation</a:t>
            </a:r>
          </a:p>
        </p:txBody>
      </p:sp>
      <p:sp>
        <p:nvSpPr>
          <p:cNvPr id="15" name="TextBox 14"/>
          <p:cNvSpPr txBox="1"/>
          <p:nvPr/>
        </p:nvSpPr>
        <p:spPr>
          <a:xfrm>
            <a:off x="5623560" y="3099816"/>
            <a:ext cx="5790895" cy="201168"/>
          </a:xfrm>
          <a:prstGeom prst="rect">
            <a:avLst/>
          </a:prstGeom>
          <a:noFill/>
        </p:spPr>
        <p:txBody>
          <a:bodyPr wrap="square" anchor="t" lIns="0" rIns="0" tIns="0" bIns="0">
            <a:spAutoFit/>
          </a:bodyPr>
          <a:lstStyle/>
          <a:p>
            <a:pPr algn="l">
              <a:lnSpc>
                <a:spcPct val="105000"/>
              </a:lnSpc>
              <a:spcAft>
                <a:spcPts val="0"/>
              </a:spcAft>
            </a:pPr>
            <a:r>
              <a:rPr sz="1200" b="1" i="0">
                <a:solidFill>
                  <a:srgbClr val="1A1A2E"/>
                </a:solidFill>
                <a:latin typeface="Calibri"/>
              </a:rPr>
              <a:t>Huu-Vu-Phuong Tran</a:t>
            </a:r>
            <a:r>
              <a:rPr sz="1050" b="0" i="0">
                <a:solidFill>
                  <a:srgbClr val="666666"/>
                </a:solidFill>
                <a:latin typeface="Calibri"/>
              </a:rPr>
              <a:t>   Poison-resilient retrieval-augmented generation</a:t>
            </a:r>
          </a:p>
        </p:txBody>
      </p:sp>
      <p:sp>
        <p:nvSpPr>
          <p:cNvPr id="16" name="TextBox 15"/>
          <p:cNvSpPr txBox="1"/>
          <p:nvPr/>
        </p:nvSpPr>
        <p:spPr>
          <a:xfrm>
            <a:off x="5623560" y="3419856"/>
            <a:ext cx="5790895" cy="201168"/>
          </a:xfrm>
          <a:prstGeom prst="rect">
            <a:avLst/>
          </a:prstGeom>
          <a:noFill/>
        </p:spPr>
        <p:txBody>
          <a:bodyPr wrap="square" anchor="t" lIns="0" rIns="0" tIns="0" bIns="0">
            <a:spAutoFit/>
          </a:bodyPr>
          <a:lstStyle/>
          <a:p>
            <a:pPr algn="l">
              <a:lnSpc>
                <a:spcPct val="105000"/>
              </a:lnSpc>
              <a:spcAft>
                <a:spcPts val="0"/>
              </a:spcAft>
            </a:pPr>
            <a:r>
              <a:rPr sz="1200" b="1" i="0">
                <a:solidFill>
                  <a:srgbClr val="1A1A2E"/>
                </a:solidFill>
                <a:latin typeface="Calibri"/>
              </a:rPr>
              <a:t>Duc-Thuan Mai</a:t>
            </a:r>
            <a:r>
              <a:rPr sz="1050" b="0" i="0">
                <a:solidFill>
                  <a:srgbClr val="666666"/>
                </a:solidFill>
                <a:latin typeface="Calibri"/>
              </a:rPr>
              <a:t>   Longitudinal trust mining for retrieval pipelines</a:t>
            </a:r>
          </a:p>
        </p:txBody>
      </p:sp>
      <p:sp>
        <p:nvSpPr>
          <p:cNvPr id="17" name="TextBox 16"/>
          <p:cNvSpPr txBox="1"/>
          <p:nvPr/>
        </p:nvSpPr>
        <p:spPr>
          <a:xfrm>
            <a:off x="5623560" y="3739896"/>
            <a:ext cx="5790895" cy="201168"/>
          </a:xfrm>
          <a:prstGeom prst="rect">
            <a:avLst/>
          </a:prstGeom>
          <a:noFill/>
        </p:spPr>
        <p:txBody>
          <a:bodyPr wrap="square" anchor="t" lIns="0" rIns="0" tIns="0" bIns="0">
            <a:spAutoFit/>
          </a:bodyPr>
          <a:lstStyle/>
          <a:p>
            <a:pPr algn="l">
              <a:lnSpc>
                <a:spcPct val="105000"/>
              </a:lnSpc>
              <a:spcAft>
                <a:spcPts val="0"/>
              </a:spcAft>
            </a:pPr>
            <a:r>
              <a:rPr sz="1200" b="1" i="0">
                <a:solidFill>
                  <a:srgbClr val="1A1A2E"/>
                </a:solidFill>
                <a:latin typeface="Calibri"/>
              </a:rPr>
              <a:t>Van-Truong-Thinh Nguyen</a:t>
            </a:r>
            <a:r>
              <a:rPr sz="1050" b="0" i="0">
                <a:solidFill>
                  <a:srgbClr val="666666"/>
                </a:solidFill>
                <a:latin typeface="Calibri"/>
              </a:rPr>
              <a:t>   Depth-aware vision transformers for air quality</a:t>
            </a:r>
          </a:p>
        </p:txBody>
      </p:sp>
      <p:sp>
        <p:nvSpPr>
          <p:cNvPr id="18" name="TextBox 17"/>
          <p:cNvSpPr txBox="1"/>
          <p:nvPr/>
        </p:nvSpPr>
        <p:spPr>
          <a:xfrm>
            <a:off x="5623560" y="4059936"/>
            <a:ext cx="5790895" cy="201168"/>
          </a:xfrm>
          <a:prstGeom prst="rect">
            <a:avLst/>
          </a:prstGeom>
          <a:noFill/>
        </p:spPr>
        <p:txBody>
          <a:bodyPr wrap="square" anchor="t" lIns="0" rIns="0" tIns="0" bIns="0">
            <a:spAutoFit/>
          </a:bodyPr>
          <a:lstStyle/>
          <a:p>
            <a:pPr algn="l">
              <a:lnSpc>
                <a:spcPct val="105000"/>
              </a:lnSpc>
              <a:spcAft>
                <a:spcPts val="0"/>
              </a:spcAft>
            </a:pPr>
            <a:r>
              <a:rPr sz="1200" b="1" i="0">
                <a:solidFill>
                  <a:srgbClr val="1A1A2E"/>
                </a:solidFill>
                <a:latin typeface="Calibri"/>
              </a:rPr>
              <a:t>Tien-Anh Nguyen</a:t>
            </a:r>
            <a:r>
              <a:rPr sz="1050" b="0" i="0">
                <a:solidFill>
                  <a:srgbClr val="666666"/>
                </a:solidFill>
                <a:latin typeface="Calibri"/>
              </a:rPr>
              <a:t>   Test-time adaptation of vision-language models</a:t>
            </a:r>
          </a:p>
        </p:txBody>
      </p:sp>
      <p:sp>
        <p:nvSpPr>
          <p:cNvPr id="19" name="TextBox 18"/>
          <p:cNvSpPr txBox="1"/>
          <p:nvPr/>
        </p:nvSpPr>
        <p:spPr>
          <a:xfrm>
            <a:off x="5623560" y="4379976"/>
            <a:ext cx="5790895" cy="201168"/>
          </a:xfrm>
          <a:prstGeom prst="rect">
            <a:avLst/>
          </a:prstGeom>
          <a:noFill/>
        </p:spPr>
        <p:txBody>
          <a:bodyPr wrap="square" anchor="t" lIns="0" rIns="0" tIns="0" bIns="0">
            <a:spAutoFit/>
          </a:bodyPr>
          <a:lstStyle/>
          <a:p>
            <a:pPr algn="l">
              <a:lnSpc>
                <a:spcPct val="105000"/>
              </a:lnSpc>
              <a:spcAft>
                <a:spcPts val="0"/>
              </a:spcAft>
            </a:pPr>
            <a:r>
              <a:rPr sz="1200" b="1" i="0">
                <a:solidFill>
                  <a:srgbClr val="1A1A2E"/>
                </a:solidFill>
                <a:latin typeface="Calibri"/>
              </a:rPr>
              <a:t>Minh-Hieu Le</a:t>
            </a:r>
            <a:r>
              <a:rPr sz="1050" b="0" i="0">
                <a:solidFill>
                  <a:srgbClr val="666666"/>
                </a:solidFill>
                <a:latin typeface="Calibri"/>
              </a:rPr>
              <a:t>   Examination room optimisation, greedy and exact methods</a:t>
            </a:r>
          </a:p>
        </p:txBody>
      </p:sp>
      <p:sp>
        <p:nvSpPr>
          <p:cNvPr id="20" name="Rectangle 19"/>
          <p:cNvSpPr/>
          <p:nvPr/>
        </p:nvSpPr>
        <p:spPr>
          <a:xfrm>
            <a:off x="5623560" y="4736592"/>
            <a:ext cx="5790895" cy="12700"/>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623560" y="4901184"/>
            <a:ext cx="5790895" cy="274320"/>
          </a:xfrm>
          <a:prstGeom prst="rect">
            <a:avLst/>
          </a:prstGeom>
          <a:noFill/>
        </p:spPr>
        <p:txBody>
          <a:bodyPr wrap="square" anchor="t" lIns="0" rIns="0" tIns="0" bIns="0">
            <a:spAutoFit/>
          </a:bodyPr>
          <a:lstStyle/>
          <a:p>
            <a:pPr algn="l">
              <a:lnSpc>
                <a:spcPct val="100000"/>
              </a:lnSpc>
              <a:spcAft>
                <a:spcPts val="0"/>
              </a:spcAft>
            </a:pPr>
            <a:r>
              <a:rPr sz="1050" b="1" i="0">
                <a:solidFill>
                  <a:srgbClr val="F39C6B"/>
                </a:solidFill>
                <a:latin typeface="Calibri"/>
              </a:rPr>
              <a:t>RECENT GRADUATES · SELECTED</a:t>
            </a:r>
          </a:p>
        </p:txBody>
      </p:sp>
      <p:sp>
        <p:nvSpPr>
          <p:cNvPr id="22" name="TextBox 21"/>
          <p:cNvSpPr txBox="1"/>
          <p:nvPr/>
        </p:nvSpPr>
        <p:spPr>
          <a:xfrm>
            <a:off x="5623560" y="5212080"/>
            <a:ext cx="5790895" cy="548640"/>
          </a:xfrm>
          <a:prstGeom prst="rect">
            <a:avLst/>
          </a:prstGeom>
          <a:noFill/>
        </p:spPr>
        <p:txBody>
          <a:bodyPr wrap="square" anchor="t" lIns="0" rIns="0" tIns="0" bIns="0">
            <a:spAutoFit/>
          </a:bodyPr>
          <a:lstStyle/>
          <a:p>
            <a:pPr algn="l">
              <a:lnSpc>
                <a:spcPct val="120000"/>
              </a:lnSpc>
              <a:spcAft>
                <a:spcPts val="0"/>
              </a:spcAft>
            </a:pPr>
            <a:r>
              <a:rPr sz="1150" b="0" i="0">
                <a:solidFill>
                  <a:srgbClr val="666666"/>
                </a:solidFill>
                <a:latin typeface="Calibri"/>
              </a:rPr>
              <a:t>Khoa Phan  ·  Phong Chung  ·  Huu-Thanh Phan  ·  Huynh Duy Khang</a:t>
            </a:r>
          </a:p>
        </p:txBody>
      </p:sp>
      <p:sp>
        <p:nvSpPr>
          <p:cNvPr id="23" name="TextBox 22"/>
          <p:cNvSpPr txBox="1"/>
          <p:nvPr/>
        </p:nvSpPr>
        <p:spPr>
          <a:xfrm>
            <a:off x="5623560" y="5541264"/>
            <a:ext cx="5790895" cy="274320"/>
          </a:xfrm>
          <a:prstGeom prst="rect">
            <a:avLst/>
          </a:prstGeom>
          <a:noFill/>
        </p:spPr>
        <p:txBody>
          <a:bodyPr wrap="square" anchor="t" lIns="0" rIns="0" tIns="0" bIns="0">
            <a:spAutoFit/>
          </a:bodyPr>
          <a:lstStyle/>
          <a:p>
            <a:pPr algn="l">
              <a:lnSpc>
                <a:spcPct val="100000"/>
              </a:lnSpc>
              <a:spcAft>
                <a:spcPts val="0"/>
              </a:spcAft>
            </a:pPr>
            <a:r>
              <a:rPr sz="1050" b="1" i="0">
                <a:solidFill>
                  <a:srgbClr val="6C9BD1"/>
                </a:solidFill>
                <a:latin typeface="Calibri"/>
              </a:rPr>
              <a:t>COLLABORATORS</a:t>
            </a:r>
          </a:p>
        </p:txBody>
      </p:sp>
      <p:sp>
        <p:nvSpPr>
          <p:cNvPr id="24" name="TextBox 23"/>
          <p:cNvSpPr txBox="1"/>
          <p:nvPr/>
        </p:nvSpPr>
        <p:spPr>
          <a:xfrm>
            <a:off x="5623560" y="5852160"/>
            <a:ext cx="5790895" cy="365760"/>
          </a:xfrm>
          <a:prstGeom prst="rect">
            <a:avLst/>
          </a:prstGeom>
          <a:noFill/>
        </p:spPr>
        <p:txBody>
          <a:bodyPr wrap="square" anchor="t" lIns="0" rIns="0" tIns="0" bIns="0">
            <a:spAutoFit/>
          </a:bodyPr>
          <a:lstStyle/>
          <a:p>
            <a:pPr algn="l">
              <a:lnSpc>
                <a:spcPct val="120000"/>
              </a:lnSpc>
              <a:spcAft>
                <a:spcPts val="0"/>
              </a:spcAft>
            </a:pPr>
            <a:r>
              <a:rPr sz="1150" b="0" i="0">
                <a:solidFill>
                  <a:srgbClr val="666666"/>
                </a:solidFill>
                <a:latin typeface="Calibri"/>
              </a:rPr>
              <a:t>Phat T. Tran-Truong (HCMUT)  ·  Son Ha Xuan (RMIT)</a:t>
            </a:r>
          </a:p>
        </p:txBody>
      </p:sp>
      <p:sp>
        <p:nvSpPr>
          <p:cNvPr id="25" name="TextBox 24"/>
          <p:cNvSpPr txBox="1"/>
          <p:nvPr/>
        </p:nvSpPr>
        <p:spPr>
          <a:xfrm>
            <a:off x="777240" y="6291072"/>
            <a:ext cx="10271455" cy="219456"/>
          </a:xfrm>
          <a:prstGeom prst="rect">
            <a:avLst/>
          </a:prstGeom>
          <a:noFill/>
        </p:spPr>
        <p:txBody>
          <a:bodyPr wrap="square" anchor="t" lIns="0" rIns="0" tIns="0" bIns="0">
            <a:spAutoFit/>
          </a:bodyPr>
          <a:lstStyle/>
          <a:p>
            <a:pPr algn="l">
              <a:lnSpc>
                <a:spcPct val="100000"/>
              </a:lnSpc>
              <a:spcAft>
                <a:spcPts val="0"/>
              </a:spcAft>
            </a:pPr>
            <a:r>
              <a:rPr sz="950" b="0" i="0">
                <a:solidFill>
                  <a:srgbClr val="666666"/>
                </a:solidFill>
                <a:latin typeface="Calibri"/>
              </a:rPr>
              <a:t>RAISE Lab  ·  HCMUT, VNU-HCM</a:t>
            </a:r>
          </a:p>
        </p:txBody>
      </p:sp>
      <p:sp>
        <p:nvSpPr>
          <p:cNvPr id="26" name="TextBox 25"/>
          <p:cNvSpPr txBox="1"/>
          <p:nvPr/>
        </p:nvSpPr>
        <p:spPr>
          <a:xfrm>
            <a:off x="10865815" y="6291072"/>
            <a:ext cx="548640" cy="219456"/>
          </a:xfrm>
          <a:prstGeom prst="rect">
            <a:avLst/>
          </a:prstGeom>
          <a:noFill/>
        </p:spPr>
        <p:txBody>
          <a:bodyPr wrap="square" anchor="t" lIns="0" rIns="0" tIns="0" bIns="0">
            <a:spAutoFit/>
          </a:bodyPr>
          <a:lstStyle/>
          <a:p>
            <a:pPr algn="r">
              <a:lnSpc>
                <a:spcPct val="100000"/>
              </a:lnSpc>
              <a:spcAft>
                <a:spcPts val="0"/>
              </a:spcAft>
            </a:pPr>
            <a:r>
              <a:rPr sz="950" b="0" i="0">
                <a:solidFill>
                  <a:srgbClr val="666666"/>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8900" cy="6858000"/>
          </a:xfrm>
          <a:prstGeom prst="rect">
            <a:avLst/>
          </a:prstGeom>
          <a:solidFill>
            <a:srgbClr val="E945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868680"/>
            <a:ext cx="10637215" cy="320040"/>
          </a:xfrm>
          <a:prstGeom prst="rect">
            <a:avLst/>
          </a:prstGeom>
          <a:noFill/>
        </p:spPr>
        <p:txBody>
          <a:bodyPr wrap="square" anchor="t" lIns="0" rIns="0" tIns="0" bIns="0">
            <a:spAutoFit/>
          </a:bodyPr>
          <a:lstStyle/>
          <a:p>
            <a:pPr algn="l">
              <a:lnSpc>
                <a:spcPct val="100000"/>
              </a:lnSpc>
              <a:spcAft>
                <a:spcPts val="0"/>
              </a:spcAft>
            </a:pPr>
            <a:r>
              <a:rPr sz="1200" b="1" i="0">
                <a:solidFill>
                  <a:srgbClr val="E94560"/>
                </a:solidFill>
                <a:latin typeface="Calibri"/>
              </a:rPr>
              <a:t>COLLABORATION AND ADMISSIONS</a:t>
            </a:r>
          </a:p>
        </p:txBody>
      </p:sp>
      <p:sp>
        <p:nvSpPr>
          <p:cNvPr id="5" name="TextBox 4"/>
          <p:cNvSpPr txBox="1"/>
          <p:nvPr/>
        </p:nvSpPr>
        <p:spPr>
          <a:xfrm>
            <a:off x="777240" y="1298448"/>
            <a:ext cx="9509760" cy="914400"/>
          </a:xfrm>
          <a:prstGeom prst="rect">
            <a:avLst/>
          </a:prstGeom>
          <a:noFill/>
        </p:spPr>
        <p:txBody>
          <a:bodyPr wrap="square" anchor="t" lIns="0" rIns="0" tIns="0" bIns="0">
            <a:spAutoFit/>
          </a:bodyPr>
          <a:lstStyle/>
          <a:p>
            <a:pPr algn="l">
              <a:lnSpc>
                <a:spcPct val="120000"/>
              </a:lnSpc>
              <a:spcAft>
                <a:spcPts val="0"/>
              </a:spcAft>
            </a:pPr>
            <a:r>
              <a:rPr sz="3400" b="0" i="0">
                <a:solidFill>
                  <a:srgbClr val="FFFFFF"/>
                </a:solidFill>
                <a:latin typeface="Georgia"/>
              </a:rPr>
              <a:t>Careful work, honest about its limits,
and worth publishing.</a:t>
            </a:r>
          </a:p>
        </p:txBody>
      </p:sp>
      <p:sp>
        <p:nvSpPr>
          <p:cNvPr id="6" name="Rectangle 5"/>
          <p:cNvSpPr/>
          <p:nvPr/>
        </p:nvSpPr>
        <p:spPr>
          <a:xfrm>
            <a:off x="777240" y="2926080"/>
            <a:ext cx="3393338" cy="1874519"/>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926080"/>
            <a:ext cx="3393338" cy="44450"/>
          </a:xfrm>
          <a:prstGeom prst="rect">
            <a:avLst/>
          </a:prstGeom>
          <a:solidFill>
            <a:srgbClr val="E945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69848" y="3246120"/>
            <a:ext cx="2798978" cy="320040"/>
          </a:xfrm>
          <a:prstGeom prst="rect">
            <a:avLst/>
          </a:prstGeom>
          <a:noFill/>
        </p:spPr>
        <p:txBody>
          <a:bodyPr wrap="square" anchor="t" lIns="0" rIns="0" tIns="0" bIns="0">
            <a:spAutoFit/>
          </a:bodyPr>
          <a:lstStyle/>
          <a:p>
            <a:pPr algn="l">
              <a:lnSpc>
                <a:spcPct val="100000"/>
              </a:lnSpc>
              <a:spcAft>
                <a:spcPts val="0"/>
              </a:spcAft>
            </a:pPr>
            <a:r>
              <a:rPr sz="1600" b="1" i="0">
                <a:solidFill>
                  <a:srgbClr val="FFFFFF"/>
                </a:solidFill>
                <a:latin typeface="Calibri"/>
              </a:rPr>
              <a:t>Prospective students</a:t>
            </a:r>
          </a:p>
        </p:txBody>
      </p:sp>
      <p:sp>
        <p:nvSpPr>
          <p:cNvPr id="9" name="TextBox 8"/>
          <p:cNvSpPr txBox="1"/>
          <p:nvPr/>
        </p:nvSpPr>
        <p:spPr>
          <a:xfrm>
            <a:off x="1069848" y="3675887"/>
            <a:ext cx="2798978" cy="1097280"/>
          </a:xfrm>
          <a:prstGeom prst="rect">
            <a:avLst/>
          </a:prstGeom>
          <a:noFill/>
        </p:spPr>
        <p:txBody>
          <a:bodyPr wrap="square" anchor="t" lIns="0" rIns="0" tIns="0" bIns="0">
            <a:spAutoFit/>
          </a:bodyPr>
          <a:lstStyle/>
          <a:p>
            <a:pPr algn="l">
              <a:lnSpc>
                <a:spcPct val="125000"/>
              </a:lnSpc>
              <a:spcAft>
                <a:spcPts val="0"/>
              </a:spcAft>
            </a:pPr>
            <a:r>
              <a:rPr sz="1200" b="0" i="0">
                <a:solidFill>
                  <a:srgbClr val="B8BECC"/>
                </a:solidFill>
                <a:latin typeface="Calibri"/>
              </a:rPr>
              <a:t>Master's and undergraduate projects across all three pillars. You will own a problem, publish it, and learn to defend a claim with evidence.</a:t>
            </a:r>
          </a:p>
        </p:txBody>
      </p:sp>
      <p:sp>
        <p:nvSpPr>
          <p:cNvPr id="10" name="Rectangle 9"/>
          <p:cNvSpPr/>
          <p:nvPr/>
        </p:nvSpPr>
        <p:spPr>
          <a:xfrm>
            <a:off x="4399178" y="2926080"/>
            <a:ext cx="3393338" cy="1874519"/>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399178" y="2926080"/>
            <a:ext cx="3393338" cy="44450"/>
          </a:xfrm>
          <a:prstGeom prst="rect">
            <a:avLst/>
          </a:prstGeom>
          <a:solidFill>
            <a:srgbClr val="F39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691786" y="3246120"/>
            <a:ext cx="2798978" cy="320040"/>
          </a:xfrm>
          <a:prstGeom prst="rect">
            <a:avLst/>
          </a:prstGeom>
          <a:noFill/>
        </p:spPr>
        <p:txBody>
          <a:bodyPr wrap="square" anchor="t" lIns="0" rIns="0" tIns="0" bIns="0">
            <a:spAutoFit/>
          </a:bodyPr>
          <a:lstStyle/>
          <a:p>
            <a:pPr algn="l">
              <a:lnSpc>
                <a:spcPct val="100000"/>
              </a:lnSpc>
              <a:spcAft>
                <a:spcPts val="0"/>
              </a:spcAft>
            </a:pPr>
            <a:r>
              <a:rPr sz="1600" b="1" i="0">
                <a:solidFill>
                  <a:srgbClr val="FFFFFF"/>
                </a:solidFill>
                <a:latin typeface="Calibri"/>
              </a:rPr>
              <a:t>Academic collaborators</a:t>
            </a:r>
          </a:p>
        </p:txBody>
      </p:sp>
      <p:sp>
        <p:nvSpPr>
          <p:cNvPr id="13" name="TextBox 12"/>
          <p:cNvSpPr txBox="1"/>
          <p:nvPr/>
        </p:nvSpPr>
        <p:spPr>
          <a:xfrm>
            <a:off x="4691786" y="3675887"/>
            <a:ext cx="2798978" cy="1097280"/>
          </a:xfrm>
          <a:prstGeom prst="rect">
            <a:avLst/>
          </a:prstGeom>
          <a:noFill/>
        </p:spPr>
        <p:txBody>
          <a:bodyPr wrap="square" anchor="t" lIns="0" rIns="0" tIns="0" bIns="0">
            <a:spAutoFit/>
          </a:bodyPr>
          <a:lstStyle/>
          <a:p>
            <a:pPr algn="l">
              <a:lnSpc>
                <a:spcPct val="125000"/>
              </a:lnSpc>
              <a:spcAft>
                <a:spcPts val="0"/>
              </a:spcAft>
            </a:pPr>
            <a:r>
              <a:rPr sz="1200" b="0" i="0">
                <a:solidFill>
                  <a:srgbClr val="B8BECC"/>
                </a:solidFill>
                <a:latin typeface="Calibri"/>
              </a:rPr>
              <a:t>We are looking for real agent traces and real static-analysis alert queues. Our methods are only worth as much as the data they meet.</a:t>
            </a:r>
          </a:p>
        </p:txBody>
      </p:sp>
      <p:sp>
        <p:nvSpPr>
          <p:cNvPr id="14" name="Rectangle 13"/>
          <p:cNvSpPr/>
          <p:nvPr/>
        </p:nvSpPr>
        <p:spPr>
          <a:xfrm>
            <a:off x="8021116" y="2926080"/>
            <a:ext cx="3393338" cy="1874519"/>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8021116" y="2926080"/>
            <a:ext cx="3393338" cy="44450"/>
          </a:xfrm>
          <a:prstGeom prst="rect">
            <a:avLst/>
          </a:prstGeom>
          <a:solidFill>
            <a:srgbClr val="6C9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313724" y="3246120"/>
            <a:ext cx="2798978" cy="320040"/>
          </a:xfrm>
          <a:prstGeom prst="rect">
            <a:avLst/>
          </a:prstGeom>
          <a:noFill/>
        </p:spPr>
        <p:txBody>
          <a:bodyPr wrap="square" anchor="t" lIns="0" rIns="0" tIns="0" bIns="0">
            <a:spAutoFit/>
          </a:bodyPr>
          <a:lstStyle/>
          <a:p>
            <a:pPr algn="l">
              <a:lnSpc>
                <a:spcPct val="100000"/>
              </a:lnSpc>
              <a:spcAft>
                <a:spcPts val="0"/>
              </a:spcAft>
            </a:pPr>
            <a:r>
              <a:rPr sz="1600" b="1" i="0">
                <a:solidFill>
                  <a:srgbClr val="FFFFFF"/>
                </a:solidFill>
                <a:latin typeface="Calibri"/>
              </a:rPr>
              <a:t>Industry partners</a:t>
            </a:r>
          </a:p>
        </p:txBody>
      </p:sp>
      <p:sp>
        <p:nvSpPr>
          <p:cNvPr id="17" name="TextBox 16"/>
          <p:cNvSpPr txBox="1"/>
          <p:nvPr/>
        </p:nvSpPr>
        <p:spPr>
          <a:xfrm>
            <a:off x="8313724" y="3675887"/>
            <a:ext cx="2798978" cy="1097280"/>
          </a:xfrm>
          <a:prstGeom prst="rect">
            <a:avLst/>
          </a:prstGeom>
          <a:noFill/>
        </p:spPr>
        <p:txBody>
          <a:bodyPr wrap="square" anchor="t" lIns="0" rIns="0" tIns="0" bIns="0">
            <a:spAutoFit/>
          </a:bodyPr>
          <a:lstStyle/>
          <a:p>
            <a:pPr algn="l">
              <a:lnSpc>
                <a:spcPct val="125000"/>
              </a:lnSpc>
              <a:spcAft>
                <a:spcPts val="0"/>
              </a:spcAft>
            </a:pPr>
            <a:r>
              <a:rPr sz="1200" b="0" i="0">
                <a:solidFill>
                  <a:srgbClr val="B8BECC"/>
                </a:solidFill>
                <a:latin typeface="Calibri"/>
              </a:rPr>
              <a:t>Reliability audits, leakage assessments and evaluation design for deployed AI systems. Measurement you can put in front of a regulator.</a:t>
            </a:r>
          </a:p>
        </p:txBody>
      </p:sp>
      <p:sp>
        <p:nvSpPr>
          <p:cNvPr id="18" name="Rectangle 17"/>
          <p:cNvSpPr/>
          <p:nvPr/>
        </p:nvSpPr>
        <p:spPr>
          <a:xfrm>
            <a:off x="777240" y="5230368"/>
            <a:ext cx="10637215" cy="12700"/>
          </a:xfrm>
          <a:prstGeom prst="rect">
            <a:avLst/>
          </a:prstGeom>
          <a:solidFill>
            <a:srgbClr val="3A3F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77240" y="5532120"/>
            <a:ext cx="10637215" cy="731520"/>
          </a:xfrm>
          <a:prstGeom prst="rect">
            <a:avLst/>
          </a:prstGeom>
          <a:noFill/>
        </p:spPr>
        <p:txBody>
          <a:bodyPr wrap="square" anchor="t" lIns="0" rIns="0" tIns="0" bIns="0">
            <a:spAutoFit/>
          </a:bodyPr>
          <a:lstStyle/>
          <a:p>
            <a:pPr algn="l">
              <a:lnSpc>
                <a:spcPct val="100000"/>
              </a:lnSpc>
              <a:spcAft>
                <a:spcPts val="0"/>
              </a:spcAft>
            </a:pPr>
            <a:r>
              <a:rPr sz="1500" b="1" i="0">
                <a:solidFill>
                  <a:srgbClr val="FFFFFF"/>
                </a:solidFill>
                <a:latin typeface="Calibri"/>
              </a:rPr>
              <a:t>Dr. Xuan-Bach Le</a:t>
            </a:r>
            <a:r>
              <a:rPr sz="1300" b="0" i="0">
                <a:solidFill>
                  <a:srgbClr val="B8BECC"/>
                </a:solidFill>
                <a:latin typeface="Calibri"/>
              </a:rPr>
              <a:t>    lexuanbach@hcmut.edu.vn</a:t>
            </a:r>
            <a:r>
              <a:rPr sz="1300" b="0" i="0">
                <a:solidFill>
                  <a:srgbClr val="B8BECC"/>
                </a:solidFill>
                <a:latin typeface="Calibri"/>
              </a:rPr>
              <a:t>    ·    lexuanbach.github.io</a:t>
            </a:r>
          </a:p>
        </p:txBody>
      </p:sp>
      <p:sp>
        <p:nvSpPr>
          <p:cNvPr id="20" name="TextBox 19"/>
          <p:cNvSpPr txBox="1"/>
          <p:nvPr/>
        </p:nvSpPr>
        <p:spPr>
          <a:xfrm>
            <a:off x="777240" y="5897880"/>
            <a:ext cx="10637215" cy="365760"/>
          </a:xfrm>
          <a:prstGeom prst="rect">
            <a:avLst/>
          </a:prstGeom>
          <a:noFill/>
        </p:spPr>
        <p:txBody>
          <a:bodyPr wrap="square" anchor="t" lIns="0" rIns="0" tIns="0" bIns="0">
            <a:spAutoFit/>
          </a:bodyPr>
          <a:lstStyle/>
          <a:p>
            <a:pPr algn="l">
              <a:lnSpc>
                <a:spcPct val="100000"/>
              </a:lnSpc>
              <a:spcAft>
                <a:spcPts val="0"/>
              </a:spcAft>
            </a:pPr>
            <a:r>
              <a:rPr sz="1100" b="0" i="0">
                <a:solidFill>
                  <a:srgbClr val="B8BECC"/>
                </a:solidFill>
                <a:latin typeface="Calibri"/>
              </a:rPr>
              <a:t>Faculty of Computer Science and Engineering, HCMUT · 268 Ly Thuong Kiet, District 10, Ho Chi Minh City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